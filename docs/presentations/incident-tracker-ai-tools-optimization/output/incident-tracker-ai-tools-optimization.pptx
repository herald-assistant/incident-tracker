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9c2882cb24578" /><Relationship Type="http://schemas.openxmlformats.org/officeDocument/2006/relationships/extended-properties" Target="/docProps/app.xml" Id="R06a25478f0334b0a" /><Relationship Type="http://schemas.openxmlformats.org/officeDocument/2006/relationships/officeDocument" Target="/ppt/presentation.xml" Id="R1538266b340745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7ea6b81764180"/>
  </p:sldMasterIdLst>
  <p:notesMasterIdLst>
    <p:notesMasterId xmlns:r="http://schemas.openxmlformats.org/officeDocument/2006/relationships" r:id="Re9f98607fcce427e"/>
  </p:notesMasterIdLst>
  <p:sldIdLst>
    <p:sldId xmlns:r="http://schemas.openxmlformats.org/officeDocument/2006/relationships" id="256" r:id="R0795d5d59369438a"/>
    <p:sldId xmlns:r="http://schemas.openxmlformats.org/officeDocument/2006/relationships" id="257" r:id="Rf81d208cbf6c493a"/>
    <p:sldId xmlns:r="http://schemas.openxmlformats.org/officeDocument/2006/relationships" id="258" r:id="Rb097ac2106a34434"/>
    <p:sldId xmlns:r="http://schemas.openxmlformats.org/officeDocument/2006/relationships" id="259" r:id="R6cd88a20914b4ce2"/>
    <p:sldId xmlns:r="http://schemas.openxmlformats.org/officeDocument/2006/relationships" id="260" r:id="Rd4cc264433d04442"/>
    <p:sldId xmlns:r="http://schemas.openxmlformats.org/officeDocument/2006/relationships" id="261" r:id="Rf01064c4fe6445b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cf2eddb0b84cff" /><Relationship Type="http://schemas.openxmlformats.org/officeDocument/2006/relationships/slideMaster" Target="/ppt/slideMasters/slideMaster1.xml" Id="R16e7ea6b81764180" /><Relationship Type="http://schemas.openxmlformats.org/officeDocument/2006/relationships/notesMaster" Target="/ppt/notesMasters/notesMaster1.xml" Id="Re9f98607fcce427e" /><Relationship Type="http://schemas.openxmlformats.org/officeDocument/2006/relationships/presProps" Target="/ppt/presProps.xml" Id="Rb6785e1528634d15" /><Relationship Type="http://schemas.openxmlformats.org/officeDocument/2006/relationships/tableStyles" Target="/ppt/tableStyles.xml" Id="R7cee64a10cd74d02" /><Relationship Type="http://schemas.openxmlformats.org/officeDocument/2006/relationships/slide" Target="/ppt/slides/slide1.xml" Id="R0795d5d59369438a" /><Relationship Type="http://schemas.openxmlformats.org/officeDocument/2006/relationships/slide" Target="/ppt/slides/slide2.xml" Id="Rf81d208cbf6c493a" /><Relationship Type="http://schemas.openxmlformats.org/officeDocument/2006/relationships/slide" Target="/ppt/slides/slide3.xml" Id="Rb097ac2106a34434" /><Relationship Type="http://schemas.openxmlformats.org/officeDocument/2006/relationships/slide" Target="/ppt/slides/slide4.xml" Id="R6cd88a20914b4ce2" /><Relationship Type="http://schemas.openxmlformats.org/officeDocument/2006/relationships/slide" Target="/ppt/slides/slide5.xml" Id="Rd4cc264433d04442" /><Relationship Type="http://schemas.openxmlformats.org/officeDocument/2006/relationships/slide" Target="/ppt/slides/slide6.xml" Id="Rf01064c4fe6445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2cdcd1bf354c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192cbe91114f28" /><Relationship Type="http://schemas.openxmlformats.org/officeDocument/2006/relationships/notesMaster" Target="/ppt/notesMasters/notesMaster1.xml" Id="Rcc5f612c0c824a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198f70815a46aa" /><Relationship Type="http://schemas.openxmlformats.org/officeDocument/2006/relationships/notesMaster" Target="/ppt/notesMasters/notesMaster1.xml" Id="R8ec982d4c2f8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a77d33bf1e48b8" /><Relationship Type="http://schemas.openxmlformats.org/officeDocument/2006/relationships/notesMaster" Target="/ppt/notesMasters/notesMaster1.xml" Id="Ra08805cf94684c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7060f39d24d82" /><Relationship Type="http://schemas.openxmlformats.org/officeDocument/2006/relationships/notesMaster" Target="/ppt/notesMasters/notesMaster1.xml" Id="R7f6633193fda42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9aec8dd6564b02" /><Relationship Type="http://schemas.openxmlformats.org/officeDocument/2006/relationships/notesMaster" Target="/ppt/notesMasters/notesMaster1.xml" Id="R25415627520243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7524009f641f3" /><Relationship Type="http://schemas.openxmlformats.org/officeDocument/2006/relationships/notesMaster" Target="/ppt/notesMasters/notesMaster1.xml" Id="Raf1557925bc640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 deck jest drugim krokiem po prezentacji o filozofii agentów. Tym razem zawężamy temat do jednego filaru: AI Tools. Kluczowa teza: dobry tool zmniejsza koszt, czas i ryzyko pracy agenta.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Najważniejsza zasada projektowa: jeżeli coś można policzyć, zwalidować, przefiltrować, ograniczyć, skorelować albo przetestować w zwykłym kodzie, powinno znaleźć się w toolu, a nie w promptcie.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Rozdzielamy odpowiedzialność. AI powinno stawiać hipotezy, interpretować fakty, wybierać kolejny krok i składać odpowiedź. Tool ma gwarantować fakty, zakres, walidację, limity, uprawnienia i powtarzalny wynik.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Stateful tool przenosi twardy kontekst sesji poza model. Aplikacja ustala sessionId, użytkownika, uprawnienia, środowisko, zakres, polityki i limity. Model w wywołaniu podaje tylko argumenty interpretacyjne, takie jak reason, filtr albo hipoteza.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Dobry opis uczy model, kiedy tool ma sens. Ale bezpieczeństwo, kontrola kosztu i powtarzalność wynikają z implementacji: walidacji, limitów, scope'u, struktury wyniku, logów i testów.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Zamykamy przesłaniem: zły tool kosztuje więcej niż zły prompt, bo przerzuca pracę na AI. Projektujemy narzędzia tak, żeby agent robił mniej niepotrzebnej, kosztownej i ryzykownej pracy.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ec62bcaff46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224a3177c484b" /><Relationship Type="http://schemas.openxmlformats.org/officeDocument/2006/relationships/slideLayout" Target="/ppt/slideLayouts/slideLayout1.xml" Id="R835e0c0cd031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e0c0cd031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c53dc68c94878" /><Relationship Type="http://schemas.openxmlformats.org/officeDocument/2006/relationships/notesSlide" Target="/ppt/notesSlides/notesSlide1.xml" Id="R0fa307e2dbe8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bd688d8f742b8" /><Relationship Type="http://schemas.openxmlformats.org/officeDocument/2006/relationships/notesSlide" Target="/ppt/notesSlides/notesSlide2.xml" Id="Rc480e073787e48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c152b00194909" /><Relationship Type="http://schemas.openxmlformats.org/officeDocument/2006/relationships/notesSlide" Target="/ppt/notesSlides/notesSlide3.xml" Id="R013c07d718a7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db2a657d44d6" /><Relationship Type="http://schemas.openxmlformats.org/officeDocument/2006/relationships/notesSlide" Target="/ppt/notesSlides/notesSlide4.xml" Id="Re4f36857c0ec49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499acd8b94097" /><Relationship Type="http://schemas.openxmlformats.org/officeDocument/2006/relationships/notesSlide" Target="/ppt/notesSlides/notesSlide5.xml" Id="Rd3389b4608ee47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309ca9bac4737" /><Relationship Type="http://schemas.openxmlformats.org/officeDocument/2006/relationships/notesSlide" Target="/ppt/notesSlides/notesSlide6.xml" Id="R6be8b3b0c92e4d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BE350-F72A-46E7-8956-DF903A4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93143-BF55-43CF-A800-DE56C301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D1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B4F5B-5ECA-4BB7-BEA6-5A9E8CE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1E3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5BB33-7BD4-4A8C-ABD2-5C3FC8CE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INCIDENT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84FB-8448-42D9-8B72-A35F6C27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866775"/>
            <a:ext cx="14382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3434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2F921-7F82-42AA-95F8-B8BBD467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68580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t>AI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A91DF-92F1-41B1-891E-8813C95A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7620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t>AI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47858-9BBF-4A81-87D2-4F3FE885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7620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Jak optymalizować narzędzia dla agentów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E5320-6F7E-46E9-BF47-BE97DD83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66103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t>Dobry tool obniża koszt, czas i ryzyko działania agenta.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384A5-0C51-497F-9CC2-355DFBB1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102" y="5800725"/>
            <a:ext cx="1428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A3A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6BB65-1475-4AA2-94E7-D93E10D8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2455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t>tańszy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4D1C6-F67A-4746-A778-D364DFFF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0202" y="5800725"/>
            <a:ext cx="147637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A3A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9D788-058F-4F12-A6DC-E08D60F3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9245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t>szybszy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685DA-DF35-49DE-BD30-50F424CF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927" y="5800725"/>
            <a:ext cx="2333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A3A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8D3CA-C26D-4C85-97E2-9A3E83CC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924550"/>
            <a:ext cx="1981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9F0A"/>
                </a:solidFill>
                <a:latin typeface="Aptos"/>
                <a:ea typeface="Aptos"/>
                <a:cs typeface="Aptos"/>
              </a:defRPr>
            </a:pPr>
            <a:r>
              <a:t>bezpieczniejszy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D5A8D-E334-4944-8E15-42CF553B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902" y="5800725"/>
            <a:ext cx="204787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A3A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0982D-6F6D-4549-9E74-1150BA4F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59245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F52DE"/>
                </a:solidFill>
                <a:latin typeface="Aptos"/>
                <a:ea typeface="Aptos"/>
                <a:cs typeface="Aptos"/>
              </a:defRPr>
            </a:pPr>
            <a:r>
              <a:t>audytowalny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8F8F9-1CDE-429C-B574-A57997C2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10700"/>
            <a:ext cx="1604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Incident Tracker · AI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DF2CD-9230-4F7C-A0A1-7ABFEAB0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0" y="941070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07588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20A0687-0D1F-44BB-AFE7-6D735857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10188-0AB7-4DEA-87FB-AF395A5B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3624F-D7A1-493C-BDCF-9CE8A834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33425"/>
            <a:ext cx="1442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E3E84-263D-4E37-9B4E-FBDCAB33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5524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t>AI TOOLS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709277-0963-4207-AEB0-6AFC6B1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3925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t>Tool zaczyna się tam, gdzie zaczyna się logika deterministyczna.</a:t>
            </a:r>
          </a:p>
        </p:txBody>
      </p:sp>
      <p:sp>
        <p:nvSpPr>
          <p:cNvPr id="6" name="accent-line">
            <a:extLst xmlns:a="http://schemas.openxmlformats.org/drawingml/2006/main">
              <a:ext uri="{FF2B5EF4-FFF2-40B4-BE49-F238E27FC236}">
                <a16:creationId xmlns:a16="http://schemas.microsoft.com/office/drawing/2014/main" id="{99BC37E5-FBA7-4BA4-A53C-A2BB109D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71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9CA0-5E95-4837-8A1D-501C3AA0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6553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t>Jeśli zwykły kod może to zrobić, prompt nie powinien za to płacić.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40FB0-EF92-436F-A23B-7C54AB8F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05600"/>
            <a:ext cx="510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Model nie jest tańszą wersją walidatora, filtra ani agregatora.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1C124-8621-41C1-BB02-418EC5B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09" y="4886325"/>
            <a:ext cx="13811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F227D-A8DA-4930-9908-A2243838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t>policz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91720-063B-4166-82E0-A3C846D6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385" y="4886325"/>
            <a:ext cx="1619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9A728-3E9F-43D8-BD68-1E82B7C7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101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t>zwaliduj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C46D5-BEA3-4164-8F14-9F6C466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985" y="4886325"/>
            <a:ext cx="1952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D5AA1-B73D-4325-B42A-C4428972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010150"/>
            <a:ext cx="1600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9F0A"/>
                </a:solidFill>
                <a:latin typeface="Aptos"/>
                <a:ea typeface="Aptos"/>
                <a:cs typeface="Aptos"/>
              </a:defRPr>
            </a:pPr>
            <a:r>
              <a:t>przefiltruj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BB075-4904-4ED1-92E1-5B442188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09" y="5534025"/>
            <a:ext cx="16954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E819D-066F-4D92-9B07-979B8322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5785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3B30"/>
                </a:solidFill>
                <a:latin typeface="Aptos"/>
                <a:ea typeface="Aptos"/>
                <a:cs typeface="Aptos"/>
              </a:defRPr>
            </a:pPr>
            <a:r>
              <a:t>ogranicz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64AE6-8B7F-4AD1-B2E2-0BB76159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710" y="5534025"/>
            <a:ext cx="1619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D9193-6603-4053-9740-3A9C1E7C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578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F52DE"/>
                </a:solidFill>
                <a:latin typeface="Aptos"/>
                <a:ea typeface="Aptos"/>
                <a:cs typeface="Aptos"/>
              </a:defRPr>
            </a:pPr>
            <a:r>
              <a:t>skoreluj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BFC7F-82B4-4A66-9902-5B1746D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310" y="5534025"/>
            <a:ext cx="18097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FCD4F-6ACB-4F59-9FBE-0D1D7589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657850"/>
            <a:ext cx="148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71E3"/>
                </a:solidFill>
                <a:latin typeface="Aptos"/>
                <a:ea typeface="Aptos"/>
                <a:cs typeface="Aptos"/>
              </a:defRPr>
            </a:pPr>
            <a:r>
              <a:t>przetestuj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F67A9-FACB-44DE-AFBB-0F14C5F7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8909" y="6181725"/>
            <a:ext cx="9429941" cy="1196340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4EBAF-6681-4CED-AD5D-9A9F6A0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57225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71E3"/>
                </a:solidFill>
                <a:latin typeface="Aptos Display"/>
                <a:ea typeface="Aptos Display"/>
                <a:cs typeface="Aptos Display"/>
              </a:defRPr>
            </a:pPr>
            <a:r>
              <a:t>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2E2019-B75C-4204-86EC-07AC199E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57950"/>
            <a:ext cx="7505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interpretuje wynik pracy toola, zamiast wykonywać deterministyczną robotę tokenami.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E504A-E67C-4A2B-BE99-03BE549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07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 · AI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37EC2-9C4B-4E65-87DB-FCE6FDD4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44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92792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98B630D-6570-4240-81E6-AED8E26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E724A-F137-4ED8-8125-2980AAC1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4AEE8-50B2-4D8A-9097-66D7D5D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33425"/>
            <a:ext cx="1442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7CE92-DBFE-4986-B73B-1A8E5CC5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5524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C759"/>
                </a:solidFill>
                <a:latin typeface="Aptos"/>
                <a:ea typeface="Aptos"/>
                <a:cs typeface="Aptos"/>
              </a:defRPr>
            </a:pPr>
            <a:r>
              <a:t>AI TOOLS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B4CF4E-051B-4DB1-9831-EF8B51D5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77152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t>AI interpretuje. Tool gwarantuje.</a:t>
            </a:r>
          </a:p>
        </p:txBody>
      </p:sp>
      <p:sp>
        <p:nvSpPr>
          <p:cNvPr id="6" name="accent-line">
            <a:extLst xmlns:a="http://schemas.openxmlformats.org/drawingml/2006/main">
              <a:ext uri="{FF2B5EF4-FFF2-40B4-BE49-F238E27FC236}">
                <a16:creationId xmlns:a16="http://schemas.microsoft.com/office/drawing/2014/main" id="{87185103-5D82-4066-B81B-330EA2C3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71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C759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CC0BF-F6DC-43BB-BA26-9D03F0D6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7715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71E3"/>
                </a:solidFill>
                <a:latin typeface="Aptos Display"/>
                <a:ea typeface="Aptos Display"/>
                <a:cs typeface="Aptos Display"/>
              </a:defRPr>
            </a:pPr>
            <a: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0FC9C-C756-46B2-B565-3EB0A8B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71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6F8EA-47C4-48D3-8C7D-1905E4B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8D48E-B91A-4DCD-A58A-8BE00382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Hipoteza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B2BE4-05F6-4746-ABF5-E2FCB6BA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co może tłumaczyć obserwowany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95054-5418-456A-BA96-4DCFF58D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63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27AD2-F623-429C-BA99-14D9A91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864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8634A-7ED4-47E7-8CD2-A61A5DDF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864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Interpretacja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D24B9-C41F-4936-89D5-7CC992A3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864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jak połączyć fakty w spójną historię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0B5D2-AC4E-4AA2-87E3-95F01F9A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655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2B791-0C18-4D9D-B7B2-A0EFDFB4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056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21BAE-A72B-4124-AF75-1DE58935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7056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Kolejny krok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92100-D8E3-42D0-8C52-3C96BDE3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056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który brak widoczności warto uzupełnić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F7B7F-BF3D-4C42-8064-18A83493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847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D815A-DCBF-4C0D-8A3D-CD6F4A6F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248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747DF-0578-49A3-80AE-E14168E0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9248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Synteza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5F07D-8555-4E64-AA3B-FF3F97E3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83248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jak oddać wynik człowiekowi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8EA93C-CBD5-4D87-B02E-DB6B3CF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038850"/>
            <a:ext cx="51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2D2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B57B3-1A9A-453A-9691-D5BFC925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95650"/>
            <a:ext cx="7715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4C759"/>
                </a:solidFill>
                <a:latin typeface="Aptos Display"/>
                <a:ea typeface="Aptos Display"/>
                <a:cs typeface="Aptos Display"/>
              </a:defRPr>
            </a:pPr>
            <a:r>
              <a:t>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31CB6E-649A-47BD-BDF0-0DD9ACD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271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8ED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34B97-F9CA-49D1-ABDC-9F06AF3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C759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BBA319-8FF1-488C-BE88-488F0270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672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Fakty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5DDE63-BB10-44E1-8AE9-3E6C87E6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6672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pewne dane z kontrolowanego źródła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0ACC6-18F2-4B5C-BBBC-1965D7EF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2463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A4ABF-6439-44D6-BD41-2F0FFC6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4864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C759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06113E-6753-4956-9624-7D41F11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4864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Zakres i uprawnienia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7ACD44-435E-49EE-85A1-08310A5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864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hard scope sesji, a nie sugestia modelu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52D8ED-93F5-40F9-98AE-868711A1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4655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81961C-07A8-4BB2-8FAE-3909A37A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7056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C759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FEEA1C-82E4-4981-98AD-F3128A7F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7056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Walidacja i limity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ECDA9C-499E-463E-8ABB-18127236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71056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czas, rozmiar, koszt, format wejścia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BC5DED-B0DB-4641-B481-5897984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7684770"/>
            <a:ext cx="770572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DA9934-17CA-42B7-96D1-BC68803C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79248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C759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B593CB-AFC4-4653-80B5-8F0E5124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924800"/>
            <a:ext cx="695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Powtarzalny wynik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4AA2F6-C45E-4F67-BFF4-4662E830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8324850"/>
            <a:ext cx="718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struktura, błędy, logi i testy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028838-037A-4A81-BBD2-F692702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07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 · AI Tools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563725-1A3F-4CA1-BE30-D73AE547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44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99320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862A1AD-A42B-4280-8E39-0EC64DA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05980-52BE-4F4E-AE15-9DEE3444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684BD-0C67-40AE-A44D-EDFCCB2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33425"/>
            <a:ext cx="1442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E9D2B-A208-4A16-A026-9C9D6844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5524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F52DE"/>
                </a:solidFill>
                <a:latin typeface="Aptos"/>
                <a:ea typeface="Aptos"/>
                <a:cs typeface="Aptos"/>
              </a:defRPr>
            </a:pPr>
            <a:r>
              <a:t>AI TOOLS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0AD68B-BA8E-49E4-8A2E-C4335E76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25158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t>Stateful tool: AI nie zgaduje tego, co system wie na pewno.</a:t>
            </a:r>
          </a:p>
        </p:txBody>
      </p:sp>
      <p:sp>
        <p:nvSpPr>
          <p:cNvPr id="6" name="accent-line">
            <a:extLst xmlns:a="http://schemas.openxmlformats.org/drawingml/2006/main">
              <a:ext uri="{FF2B5EF4-FFF2-40B4-BE49-F238E27FC236}">
                <a16:creationId xmlns:a16="http://schemas.microsoft.com/office/drawing/2014/main" id="{CED74DCB-3430-4F3F-B7C1-797D22CB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71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52D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B1629-6C96-4831-A3F3-B04C959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49784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7F1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3407A-4FAD-433A-91C2-D3179B1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98924-2B45-4FE0-B26E-02ED5F18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421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Start sesji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D1FB8-60F6-4583-9BAF-F2860B30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4438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sessionId, użytkownik, uprawnienia, środowisko, scope, kontekst systemu, polityki, limity, allowlista tooli, stabilne identyfikatory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52B00-5E6E-4B28-B3D0-3682ABD9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51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2D2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39405-F72F-4B07-BB83-94B025E2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800" y="4876800"/>
            <a:ext cx="49784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F8ED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9F5D2-F43E-4BCC-9E6A-650FD482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054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C759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67321-98A4-42FF-A776-F02B507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24450"/>
            <a:ext cx="421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Tool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D8D34-9BD5-4CA1-BB55-17426B88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24500"/>
            <a:ext cx="4438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odtwarza twardy kontekst sesji i pilnuje granic wykonania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AF9F6-2F6B-4D20-A922-AEB550F5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219700"/>
            <a:ext cx="514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D2D2D7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1B61E-DCBA-4D29-9735-2981F1A5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450" y="4762500"/>
            <a:ext cx="49784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8FB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BFA02-795E-4770-949D-2A3F303D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9911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F52D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A895F-6E2C-40DD-826E-351352E0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010150"/>
            <a:ext cx="4210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Tool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A3DD5-6370-40BA-B5DF-580E77BF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410200"/>
            <a:ext cx="4438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model podaje tylko reason, filtr, wzorzec, hipotezę albo poziom szczegółowości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7D6B2-B1E1-4DEA-B569-2AAD9BB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37960"/>
            <a:ext cx="16649700" cy="1516380"/>
          </a:xfrm>
          <a:prstGeom xmlns:a="http://schemas.openxmlformats.org/drawingml/2006/main" prst="roundRect">
            <a:avLst>
              <a:gd name="adj" fmla="val 5025"/>
            </a:avLst>
          </a:prstGeom>
          <a:solidFill xmlns:a="http://schemas.openxmlformats.org/drawingml/2006/main">
            <a:srgbClr val="111113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244C5-F796-46E4-9ABC-EEA287D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858000"/>
            <a:ext cx="68008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t>Agent może pomylić argument interpretacyjny.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9D128-39E9-4541-A639-7E71E53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934200"/>
            <a:ext cx="8648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Nie powinien móc zmienić użytkownika, środowiska, zakresu analizy, polityk ani limitów.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C1078-8EAA-4003-869A-24F0A5AE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07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 · AI Tools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3C04E-43D7-4790-BC6A-996388CF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44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86910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11376B7-0E52-41C9-BDAB-B8832DF5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D2ED3-0852-4EBB-AD2F-F64AA406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AF3F6-89DE-4EA6-B342-4FFB7B5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33425"/>
            <a:ext cx="1442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2D7"/>
          </a:solidFill>
          <a:ln xmlns:a="http://schemas.openxmlformats.org/drawingml/2006/main" w="0">
            <a:solidFill>
              <a:srgbClr val="D2D2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22848-BB1A-470E-BDD3-BF020C39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5524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9F0A"/>
                </a:solidFill>
                <a:latin typeface="Aptos"/>
                <a:ea typeface="Aptos"/>
                <a:cs typeface="Aptos"/>
              </a:defRPr>
            </a:pPr>
            <a:r>
              <a:t>AI TOOLS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80CD66-6623-4CF1-B529-E7802E22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25539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t>Opis pomaga modelowi. Implementacja chroni system.</a:t>
            </a:r>
          </a:p>
        </p:txBody>
      </p:sp>
      <p:sp>
        <p:nvSpPr>
          <p:cNvPr id="6" name="accent-line">
            <a:extLst xmlns:a="http://schemas.openxmlformats.org/drawingml/2006/main">
              <a:ext uri="{FF2B5EF4-FFF2-40B4-BE49-F238E27FC236}">
                <a16:creationId xmlns:a16="http://schemas.microsoft.com/office/drawing/2014/main" id="{F5763A35-B89B-4BC1-9954-21D60B37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71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F0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8075C-C6F2-42E1-89DA-544E9F4E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6267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D1D1F"/>
                </a:solidFill>
                <a:latin typeface="Aptos Display"/>
                <a:ea typeface="Aptos Display"/>
                <a:cs typeface="Aptos Display"/>
              </a:defRPr>
            </a:pPr>
            <a:r>
              <a:t>Opis jest zaproszeniem.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DCBE4-93BF-4EA8-A144-FDCB1DC6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67450"/>
            <a:ext cx="5372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Kontrakt, limity i logi są pasami bezpieczeństwa.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03D1F-7331-4217-8031-E31FF57A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769" y="4191000"/>
            <a:ext cx="3151061" cy="4095750"/>
          </a:xfrm>
          <a:prstGeom xmlns:a="http://schemas.openxmlformats.org/drawingml/2006/main" prst="roundRect">
            <a:avLst>
              <a:gd name="adj" fmla="val 2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0CA50-D9FD-4F56-8179-B629A378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2647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71E3"/>
                </a:solidFill>
                <a:latin typeface="Aptos Display"/>
                <a:ea typeface="Aptos Display"/>
                <a:cs typeface="Aptos Display"/>
              </a:defRPr>
            </a:pPr>
            <a:r>
              <a:t>Kontrakt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B8707-AEAC-4B2B-A70B-D29551AF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2920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konkretny 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CD364-BA8E-4894-9144-8EEE42C2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673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kiedy użyć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D17B0-51A4-4C4A-8BE3-5DD07B41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0550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minimalne parametry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0AE5A-5391-473D-A343-4A2A7A34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3436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bez zgadywania scope'u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E661D-D08C-423D-BD77-B59595D0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279" y="4191000"/>
            <a:ext cx="3151061" cy="4095750"/>
          </a:xfrm>
          <a:prstGeom xmlns:a="http://schemas.openxmlformats.org/drawingml/2006/main" prst="roundRect">
            <a:avLst>
              <a:gd name="adj" fmla="val 2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2BD6B-052C-4632-91F4-73BB82ED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457700"/>
            <a:ext cx="2647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4C759"/>
                </a:solidFill>
                <a:latin typeface="Aptos Display"/>
                <a:ea typeface="Aptos Display"/>
                <a:cs typeface="Aptos Display"/>
              </a:defRPr>
            </a:pPr>
            <a:r>
              <a:t>Kontrola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5DF5C-207F-4049-ADE1-2DC5DB9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2920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walidacja inputu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37424-D09B-407F-926B-BDC687D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4673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safe defaults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885B4-E78D-40AF-A9E3-960ADB31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0550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limity czasu i rozmiaru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01877-F688-45B8-A1AB-5D0F2251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uprawnienia i scope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A38C8-5F7F-4D00-A1EE-AD74439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790" y="4191000"/>
            <a:ext cx="3151061" cy="4095750"/>
          </a:xfrm>
          <a:prstGeom xmlns:a="http://schemas.openxmlformats.org/drawingml/2006/main" prst="roundRect">
            <a:avLst>
              <a:gd name="adj" fmla="val 2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1EFFA-6250-4CB8-B651-2744C0F6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457700"/>
            <a:ext cx="2647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AF52DE"/>
                </a:solidFill>
                <a:latin typeface="Aptos Display"/>
                <a:ea typeface="Aptos Display"/>
                <a:cs typeface="Aptos Display"/>
              </a:defRPr>
            </a:pPr>
            <a:r>
              <a:t>Ślad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5D408-9D10-43BC-A325-BB67D179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02920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structured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1E9D1-6F70-4FD8-B694-08F08C1B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4673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czytelne błędy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D0039-12F0-4B7F-94DF-341E115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90550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request/result 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904FA-3890-49C7-80DB-7A1B1754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3436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sessionId, toolCallId, reason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BF716B-B4F2-4E18-A584-62CBDD5A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800850"/>
            <a:ext cx="264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F"/>
                </a:solidFill>
                <a:latin typeface="Aptos"/>
                <a:ea typeface="Aptos"/>
                <a:cs typeface="Aptos"/>
              </a:defRPr>
            </a:pPr>
            <a:r>
              <a:t>testy kontraktu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62F2D5-2403-49EA-9F7B-E7EABEE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07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Incident Tracker · AI 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6353C-B779-474B-907F-99632788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44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6E73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78394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4DB18C5-1B8F-4D00-8924-DC21A4BB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C918B-BA1D-4645-98A8-05B0B8C0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7700"/>
            <a:ext cx="121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INCIDENT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046BC-C928-4558-9B48-3BC2579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733425"/>
            <a:ext cx="1442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7"/>
          </a:solidFill>
          <a:ln xmlns:a="http://schemas.openxmlformats.org/drawingml/2006/main" w="0">
            <a:solidFill>
              <a:srgbClr val="34343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01716-8F11-4586-B464-27D88A5C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300" y="552450"/>
            <a:ext cx="590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30"/>
                </a:solidFill>
                <a:latin typeface="Aptos"/>
                <a:ea typeface="Aptos"/>
                <a:cs typeface="Aptos"/>
              </a:defRPr>
            </a:pPr>
            <a:r>
              <a:t>AI TOOLS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55E8B6-1382-422F-9CFC-7819F242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01346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t>Nie optymalizujemy tooli dla elegancji kodu.</a:t>
            </a:r>
          </a:p>
        </p:txBody>
      </p:sp>
      <p:sp>
        <p:nvSpPr>
          <p:cNvPr id="6" name="accent-line">
            <a:extLst xmlns:a="http://schemas.openxmlformats.org/drawingml/2006/main">
              <a:ext uri="{FF2B5EF4-FFF2-40B4-BE49-F238E27FC236}">
                <a16:creationId xmlns:a16="http://schemas.microsoft.com/office/drawing/2014/main" id="{D3F64311-D9F0-4FB4-AE78-B77E2281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714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3B3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FE033-0AE1-4AF8-9FC2-415EAA59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72009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5F7"/>
                </a:solidFill>
                <a:latin typeface="Aptos Display"/>
                <a:ea typeface="Aptos Display"/>
                <a:cs typeface="Aptos Display"/>
              </a:defRPr>
            </a:pPr>
            <a:r>
              <a:t>Optymalizujemy je, żeby AI robiło mniej niepotrzebnej pracy.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D05CB-5385-471E-A19F-A9EF2B0D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0800"/>
            <a:ext cx="62674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To jest praktyczne podejście do promptowania: najpierw projektujemy system pracy, dopiero potem prosimy model o wykonanie.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8C519-3EE5-48EF-BAB7-A1EC450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8" y="4343400"/>
            <a:ext cx="4309586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434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D59CA-9269-4342-B5B5-E4DD20D4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9F0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A9F5E-1BE9-4F24-A8A7-233ADCC5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91050"/>
            <a:ext cx="3543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t>Koszt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C2FB2-7131-4A7B-BB30-4AA1C210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model filtruje i agreguje tokenami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DEAA2-EA3E-450C-B2B2-8868E615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9264" y="4343400"/>
            <a:ext cx="4309586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434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F4AA6-C0A8-4A95-BD7E-2AB6E47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5720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97CF3-9A89-413A-A75F-D4B18D5E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4591050"/>
            <a:ext cx="3543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t>Czas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08AB9-6117-48A1-955B-3A779C50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9911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agent robi kolejne niepotrzebne kroki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FBEAB-EE6E-4E86-8D76-AC6A03F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8" y="5619750"/>
            <a:ext cx="4309586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434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3CD55-B68C-492D-AE8B-CFC0D2A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674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AF52D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B6B2E-8877-47F3-9B1A-A6CCF4A8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867400"/>
            <a:ext cx="3543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t>Powtarzalność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C8CF0-7312-4D91-9523-E13ABAA5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6745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ten sam problem daje różne ścieżki pracy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DE9F0-21D0-4B7B-8B61-3FC27866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9264" y="5619750"/>
            <a:ext cx="4309586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434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0A7E5-A85D-432F-80D1-061256A0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8674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3B3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FC31E-4C9D-4596-B342-6BE339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5867400"/>
            <a:ext cx="3543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t>Bezpieczeństwo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79E528-0887-4F5A-93B0-18C3958F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26745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scope i uprawnienia są podatne na sugestię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83D86-F82E-43EE-BA84-7116A3A9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228" y="6896100"/>
            <a:ext cx="4309586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434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F23FF-48C5-4009-A302-39CAFEFE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1247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4C759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99F5EE-985D-4D96-AD15-B9E1E5C8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143750"/>
            <a:ext cx="3543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t>Audytowalność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949B39-FF57-4703-ACF2-E20FAE5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5438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nie widać, skąd wzięła się odpowiedź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054680-7107-47FE-9D65-43D08EAB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9264" y="6896100"/>
            <a:ext cx="4309586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02024"/>
          </a:solidFill>
          <a:ln xmlns:a="http://schemas.openxmlformats.org/drawingml/2006/main" w="9525">
            <a:solidFill>
              <a:srgbClr val="34343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59450-9D26-4054-BB72-63159AC7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7124700"/>
            <a:ext cx="95250" cy="3238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1E3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47AD2-59A4-412A-8F47-7FB25F9E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7143750"/>
            <a:ext cx="3543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5F7"/>
                </a:solidFill>
                <a:latin typeface="Aptos"/>
                <a:ea typeface="Aptos"/>
                <a:cs typeface="Aptos"/>
              </a:defRPr>
            </a:pPr>
            <a:r>
              <a:t>Zaufanie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CF52D8-9C3C-4737-86BE-D5A19772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543800"/>
            <a:ext cx="3771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użytkownik nie wie, kiedy wynik jest solidny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1C94AE-41A6-4F39-BEE8-298CD1C0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07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Incident Tracker · AI Tools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2ECF2E-D751-42C8-AC1C-EF7B984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544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A1A1A6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7736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2026-06-18T00:28:25.2010000Z</dcterms:created>
  <dcterms:modified xsi:type="dcterms:W3CDTF">2026-06-18T00:28:25.2010000Z</dcterms:modified>
</coreProperties>
</file>