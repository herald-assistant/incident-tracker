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59" d="100"/>
          <a:sy n="59" d="100"/>
        </p:scale>
        <p:origin x="386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Otwieramy prezentację jak stronę produktową: jeden mocny komunikat i obietnica, że Incident Tracker nie jest zrzutem danych do modelu, tylko zaprojektowanym sposobem pracy.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Zdejmujemy magiczne oczekiwanie: model jest dobry w interpretacji, ale nie powinien dostać pełnej decyzyjności nad procesem analizy.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Zdejmujemy magiczne oczekiwanie: model jest dobry w interpretacji, ale nie powinien dostać pełnej decyzyjności nad procesem analizy.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Zdejmujemy magiczne oczekiwanie: model jest dobry w interpretacji, ale nie powinien dostać pełnej decyzyjności nad procesem analizy.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Operational context nie był dostępny w analizie ludzkiej jako osobny ekran albo dokument. Był wiedzą w głowie osoby, która zna system od lat. W automatyzacji ujawniła się luka: pipeline potrafił zebrać fakty, ale nie potrafił ich osadzić w realnym kontekście systemu, repozytorium, domeny, zespołu i handoffu.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 slajd zbiera filozofię narzędzia: prompt nie jest zaklęciem, tools nie są zrzutem wszystkich danych, skille prowadzą pracę agenta, a metryki i feedback pozwalają ulepszać narzędzie po każdym uruchomieniu.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Profesjonalne promptowanie nie polega na szukaniu magicznych zwrotów. Polega na zapisaniu tego, co ekspert robi normalnie: oddziela fakty od powiązań, następnie prowadzi interpretację i pilnuje formy wyniku.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Każdy tool ma osobny cel analityczny i odpowiada na konkretną lukę widoczności.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Pokazujemy nazwy skilli na poziomie produktu: bez kodu, endpointów i bibliotek, ale z jasnym celem każdej grupy.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Podejście agentowe nie jest jedną liniową iteracją. Skill orkiestratora prowadzi pętlę: agent formułuje hipotezę, nazywa lukę, dobiera tool, wraca z nowym faktem i podejmuje decyzję, czy wynik spełnia cel z promptu i skilli. Jeżeli nie, pętla wraca do kolejnej hipotezy albo kolejnego braku.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 slajd podsumowuje to, co obecnie front dostaje w AnalysisJobStateSnapshot poza samym rezultatem skillowym. Widoczny jest model i reasoning effort, przygotowany prompt, kroki pipeline'u, deterministyczne evidence, tool evidence, zdarzenia Copilota pogrupowane jako AI, Tools, Runtime i Usage, koszt/tokeny oraz feedback jakości tooli. Ważne: frontend nie ma osobnego pola 'skill usage' i nie pokazuje prywatnego chain-of-thought. Skille są kontraktem pracy zapisanym w promptach i rezultacie, a UI pokazuje ślad wykonania tego kontraktu.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Zamknięcie prezentacji: skuteczne narzędzie AI zaczyna się od dobrego sposobu pracy. Model i SDK są ważne, ale dopiero na końcu procesu: po manualnej analizie, nazwaniu luk, zebraniu faktów, rozbiciu diagnozy na kroki i zbudowaniu pętli pomiaru.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Ten slajd ma zachęcić przyszłych współtwórców. Kod jest już podzielony na miejsca odpowiedzialności: features dostarczają konkretny use case, prompt, skille, policy i kontrakt wyniku; aiplatform.copilot daje runtime sesji, allowlistę tools, hidden context, usage, activity trace i budget; agenttools wystawiają neutralne capabilities nad adapterami; integrations utrzymują porty i adaptery do systemów zewnętrznych; shared oraz api dają neutralne kontrakty i operator-facing powierzchnie. Najważniejsza zasada: incident analysis jest pierwszym feature'em, nie generycznym core. Drugi feature, np. flow explorer albo natural-language data diagnostics, powinien korzystać z tych warstw bez importowania features.incidentanalysis.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DEFA028-35AA-4FA0-B504-018E5D744F13}"/>
              </a:ext>
            </a:extLst>
          </p:cNvPr>
          <p:cNvSpPr>
            <a:spLocks noGrp="1"/>
          </p:cNvSpPr>
          <p:nvPr/>
        </p:nvSpPr>
        <p:spPr>
          <a:xfrm>
            <a:off x="0" y="-6824"/>
            <a:ext cx="18288000" cy="10287000"/>
          </a:xfrm>
          <a:prstGeom prst="rect">
            <a:avLst/>
          </a:prstGeom>
          <a:solidFill>
            <a:srgbClr val="1D1D1F"/>
          </a:solidFill>
        </p:spPr>
        <p:txBody>
          <a:bodyPr/>
          <a:lstStyle/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1337C-DA78-4631-AE84-A985137A0DF2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16306800" cy="5765458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5100" b="1">
                <a:solidFill>
                  <a:srgbClr val="FFFFFF"/>
                </a:solidFill>
              </a:defRPr>
            </a:pPr>
            <a:r>
              <a:rPr sz="12000" dirty="0"/>
              <a:t>AI </a:t>
            </a:r>
            <a:r>
              <a:rPr sz="12000" dirty="0" err="1"/>
              <a:t>nie</a:t>
            </a:r>
            <a:r>
              <a:rPr sz="12000" dirty="0"/>
              <a:t> </a:t>
            </a:r>
            <a:r>
              <a:rPr sz="12000" dirty="0" err="1"/>
              <a:t>zmienia</a:t>
            </a:r>
            <a:r>
              <a:rPr sz="12000" dirty="0"/>
              <a:t> </a:t>
            </a:r>
          </a:p>
          <a:p>
            <a:pPr algn="ctr">
              <a:buNone/>
              <a:defRPr sz="5100" b="1">
                <a:solidFill>
                  <a:srgbClr val="FFFFFF"/>
                </a:solidFill>
              </a:defRPr>
            </a:pPr>
            <a:r>
              <a:rPr sz="12000" dirty="0" err="1">
                <a:solidFill>
                  <a:srgbClr val="FF0000"/>
                </a:solidFill>
              </a:rPr>
              <a:t>przeciętnego</a:t>
            </a:r>
            <a:r>
              <a:rPr sz="12000" dirty="0"/>
              <a:t> </a:t>
            </a:r>
            <a:r>
              <a:rPr sz="12000" dirty="0" err="1"/>
              <a:t>pomysłu</a:t>
            </a:r>
            <a:r>
              <a:rPr sz="12000" dirty="0"/>
              <a:t> </a:t>
            </a:r>
          </a:p>
          <a:p>
            <a:pPr algn="ctr">
              <a:buNone/>
              <a:defRPr sz="5100" b="1">
                <a:solidFill>
                  <a:srgbClr val="FFFFFF"/>
                </a:solidFill>
              </a:defRPr>
            </a:pPr>
            <a:r>
              <a:rPr sz="12000" dirty="0"/>
              <a:t>w </a:t>
            </a:r>
            <a:r>
              <a:rPr sz="12000" dirty="0" err="1">
                <a:solidFill>
                  <a:srgbClr val="FF0000"/>
                </a:solidFill>
              </a:rPr>
              <a:t>genialny</a:t>
            </a:r>
            <a:endParaRPr sz="12000"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129855-1178-4503-999B-E97A9F1FFBAE}"/>
              </a:ext>
            </a:extLst>
          </p:cNvPr>
          <p:cNvSpPr>
            <a:spLocks noGrp="1"/>
          </p:cNvSpPr>
          <p:nvPr/>
        </p:nvSpPr>
        <p:spPr>
          <a:xfrm>
            <a:off x="990600" y="3314700"/>
            <a:ext cx="16306800" cy="800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51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22E89F-936B-4741-9DE5-D53291343EBF}"/>
              </a:ext>
            </a:extLst>
          </p:cNvPr>
          <p:cNvSpPr>
            <a:spLocks noGrp="1"/>
          </p:cNvSpPr>
          <p:nvPr/>
        </p:nvSpPr>
        <p:spPr>
          <a:xfrm>
            <a:off x="990600" y="4152900"/>
            <a:ext cx="16306800" cy="800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5100" b="1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7BEB2F-83AF-4CA8-BEBE-3C0783C6CDF1}"/>
              </a:ext>
            </a:extLst>
          </p:cNvPr>
          <p:cNvSpPr>
            <a:spLocks noGrp="1"/>
          </p:cNvSpPr>
          <p:nvPr/>
        </p:nvSpPr>
        <p:spPr>
          <a:xfrm>
            <a:off x="990600" y="5200650"/>
            <a:ext cx="16306800" cy="4191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100" b="0">
                <a:solidFill>
                  <a:srgbClr val="A1A1A6"/>
                </a:solidFill>
              </a:defRPr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9BC3CA-E90D-32B4-443E-5DAFE7C06CDC}"/>
              </a:ext>
            </a:extLst>
          </p:cNvPr>
          <p:cNvSpPr>
            <a:spLocks noGrp="1"/>
          </p:cNvSpPr>
          <p:nvPr/>
        </p:nvSpPr>
        <p:spPr>
          <a:xfrm>
            <a:off x="990600" y="8801100"/>
            <a:ext cx="7829550" cy="685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250" b="0" i="0">
                <a:solidFill>
                  <a:srgbClr val="6E6E73"/>
                </a:solidFill>
              </a:defRPr>
            </a:pPr>
            <a:endParaRPr dirty="0"/>
          </a:p>
        </p:txBody>
      </p:sp>
      <p:sp>
        <p:nvSpPr>
          <p:cNvPr id="9" name="Rectangle 21">
            <a:extLst>
              <a:ext uri="{FF2B5EF4-FFF2-40B4-BE49-F238E27FC236}">
                <a16:creationId xmlns:a16="http://schemas.microsoft.com/office/drawing/2014/main" id="{ABEA6718-F80E-7F92-59C9-C7651C0C193B}"/>
              </a:ext>
            </a:extLst>
          </p:cNvPr>
          <p:cNvSpPr>
            <a:spLocks noGrp="1"/>
          </p:cNvSpPr>
          <p:nvPr/>
        </p:nvSpPr>
        <p:spPr>
          <a:xfrm>
            <a:off x="8327571" y="8801100"/>
            <a:ext cx="7829550" cy="685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250" b="0" i="0">
                <a:solidFill>
                  <a:srgbClr val="6E6E73"/>
                </a:solidFill>
              </a:defRPr>
            </a:pPr>
            <a:endParaRPr dirty="0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019F363A-80B1-CB6B-71B7-3113A7E15EA0}"/>
              </a:ext>
            </a:extLst>
          </p:cNvPr>
          <p:cNvSpPr>
            <a:spLocks noGrp="1"/>
          </p:cNvSpPr>
          <p:nvPr/>
        </p:nvSpPr>
        <p:spPr>
          <a:xfrm>
            <a:off x="914400" y="6096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</a:rPr>
              <a:t>INCIDENT TRACKER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335AA00D-1BBF-4561-5E5F-D5AB5EA15529}"/>
              </a:ext>
            </a:extLst>
          </p:cNvPr>
          <p:cNvSpPr>
            <a:spLocks noGrp="1"/>
          </p:cNvSpPr>
          <p:nvPr/>
        </p:nvSpPr>
        <p:spPr>
          <a:xfrm>
            <a:off x="3143250" y="704850"/>
            <a:ext cx="11334750" cy="9525"/>
          </a:xfrm>
          <a:prstGeom prst="rect">
            <a:avLst/>
          </a:prstGeom>
          <a:solidFill>
            <a:schemeClr val="bg1">
              <a:lumMod val="95000"/>
            </a:schemeClr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BE0ACFBB-46C7-E4C6-DE30-936636588866}"/>
              </a:ext>
            </a:extLst>
          </p:cNvPr>
          <p:cNvSpPr>
            <a:spLocks noGrp="1"/>
          </p:cNvSpPr>
          <p:nvPr/>
        </p:nvSpPr>
        <p:spPr>
          <a:xfrm>
            <a:off x="14706600" y="6096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rPr>
                <a:solidFill>
                  <a:schemeClr val="bg1">
                    <a:lumMod val="85000"/>
                  </a:schemeClr>
                </a:solidFill>
              </a:rPr>
              <a:t>FILOZOFIA</a:t>
            </a:r>
          </a:p>
        </p:txBody>
      </p:sp>
    </p:spTree>
    <p:extLst>
      <p:ext uri="{BB962C8B-B14F-4D97-AF65-F5344CB8AC3E}">
        <p14:creationId xmlns:p14="http://schemas.microsoft.com/office/powerpoint/2010/main" val="1662358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1CE5E386-12E5-5394-5828-EAE76CA830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1092E1F-0A36-55B1-A985-6BB1CBDAB184}"/>
              </a:ext>
            </a:extLst>
          </p:cNvPr>
          <p:cNvSpPr>
            <a:spLocks noGrp="1"/>
          </p:cNvSpPr>
          <p:nvPr/>
        </p:nvSpPr>
        <p:spPr>
          <a:xfrm>
            <a:off x="914400" y="6096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9F0A9B-EDF2-D503-479E-8104E9994C70}"/>
              </a:ext>
            </a:extLst>
          </p:cNvPr>
          <p:cNvSpPr>
            <a:spLocks noGrp="1"/>
          </p:cNvSpPr>
          <p:nvPr/>
        </p:nvSpPr>
        <p:spPr>
          <a:xfrm>
            <a:off x="3143250" y="704850"/>
            <a:ext cx="11334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483870-299B-ECB1-8C7A-ECD5351E2D3B}"/>
              </a:ext>
            </a:extLst>
          </p:cNvPr>
          <p:cNvSpPr>
            <a:spLocks noGrp="1"/>
          </p:cNvSpPr>
          <p:nvPr/>
        </p:nvSpPr>
        <p:spPr>
          <a:xfrm>
            <a:off x="14706600" y="6096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FILOZOFIA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4A2D1D-62B6-3ECA-569B-46679B1EE41B}"/>
              </a:ext>
            </a:extLst>
          </p:cNvPr>
          <p:cNvSpPr>
            <a:spLocks noGrp="1"/>
          </p:cNvSpPr>
          <p:nvPr/>
        </p:nvSpPr>
        <p:spPr>
          <a:xfrm>
            <a:off x="914400" y="1066800"/>
            <a:ext cx="14951676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5250" b="1" i="0">
                <a:solidFill>
                  <a:srgbClr val="1D1D1F"/>
                </a:solidFill>
              </a:defRPr>
            </a:pPr>
            <a:r>
              <a:rPr dirty="0" err="1"/>
              <a:t>Profesjonalne</a:t>
            </a:r>
            <a:r>
              <a:rPr dirty="0"/>
              <a:t> </a:t>
            </a:r>
            <a:r>
              <a:rPr dirty="0" err="1"/>
              <a:t>promptowanie</a:t>
            </a:r>
            <a:r>
              <a:rPr dirty="0"/>
              <a:t> to </a:t>
            </a:r>
          </a:p>
          <a:p>
            <a:pPr>
              <a:buNone/>
              <a:defRPr sz="5250" b="1" i="0">
                <a:solidFill>
                  <a:srgbClr val="1D1D1F"/>
                </a:solidFill>
              </a:defRPr>
            </a:pPr>
            <a:r>
              <a:rPr dirty="0" err="1"/>
              <a:t>automatyzacja</a:t>
            </a:r>
            <a:r>
              <a:rPr dirty="0"/>
              <a:t> </a:t>
            </a:r>
            <a:r>
              <a:rPr dirty="0" err="1">
                <a:solidFill>
                  <a:srgbClr val="FF0000"/>
                </a:solidFill>
              </a:rPr>
              <a:t>eksperckiego</a:t>
            </a:r>
            <a:r>
              <a:rPr dirty="0"/>
              <a:t> </a:t>
            </a:r>
            <a:r>
              <a:rPr dirty="0" err="1">
                <a:solidFill>
                  <a:srgbClr val="FF0000"/>
                </a:solidFill>
              </a:rPr>
              <a:t>planu</a:t>
            </a:r>
            <a:r>
              <a:rPr dirty="0"/>
              <a:t> </a:t>
            </a:r>
            <a:r>
              <a:rPr dirty="0" err="1"/>
              <a:t>pracy</a:t>
            </a:r>
            <a:r>
              <a:rPr dirty="0"/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75D9C6-852F-AA6D-E649-16873F423F94}"/>
              </a:ext>
            </a:extLst>
          </p:cNvPr>
          <p:cNvSpPr>
            <a:spLocks noGrp="1"/>
          </p:cNvSpPr>
          <p:nvPr/>
        </p:nvSpPr>
        <p:spPr>
          <a:xfrm>
            <a:off x="16954500" y="948690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02</a:t>
            </a:r>
          </a:p>
        </p:txBody>
      </p:sp>
      <p:sp>
        <p:nvSpPr>
          <p:cNvPr id="29" name="pole tekstowe 28">
            <a:extLst>
              <a:ext uri="{FF2B5EF4-FFF2-40B4-BE49-F238E27FC236}">
                <a16:creationId xmlns:a16="http://schemas.microsoft.com/office/drawing/2014/main" id="{A3B50343-FFA6-D125-678B-BE23AD306172}"/>
              </a:ext>
            </a:extLst>
          </p:cNvPr>
          <p:cNvSpPr>
            <a:spLocks noGrp="1"/>
          </p:cNvSpPr>
          <p:nvPr/>
        </p:nvSpPr>
        <p:spPr>
          <a:xfrm>
            <a:off x="4572000" y="3497486"/>
            <a:ext cx="9144000" cy="52860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ctr">
              <a:buAutoNum type="arabicPeriod"/>
              <a:defRPr sz="2250" b="1" i="0">
                <a:solidFill>
                  <a:srgbClr val="1D1D1F"/>
                </a:solidFill>
              </a:defRPr>
            </a:pPr>
            <a:r>
              <a:rPr dirty="0" err="1"/>
              <a:t>Zdefiniowanie</a:t>
            </a:r>
            <a:r>
              <a:rPr dirty="0"/>
              <a:t> problem</a:t>
            </a:r>
            <a:r>
              <a:rPr lang="pl-PL" dirty="0"/>
              <a:t>u</a:t>
            </a:r>
          </a:p>
          <a:p>
            <a:pPr marL="457200" indent="-457200" algn="ctr">
              <a:buAutoNum type="arabicPeriod"/>
              <a:defRPr sz="2250" b="1" i="0">
                <a:solidFill>
                  <a:srgbClr val="1D1D1F"/>
                </a:solidFill>
              </a:defRPr>
            </a:pPr>
            <a:endParaRPr dirty="0"/>
          </a:p>
          <a:p>
            <a:pPr marL="457200" indent="-457200" algn="ctr">
              <a:buAutoNum type="arabicPeriod"/>
              <a:defRPr sz="2250" b="1" i="0">
                <a:solidFill>
                  <a:srgbClr val="1D1D1F"/>
                </a:solidFill>
              </a:defRPr>
            </a:pPr>
            <a:r>
              <a:rPr dirty="0"/>
              <a:t>Analiza </a:t>
            </a:r>
            <a:r>
              <a:rPr dirty="0" err="1"/>
              <a:t>działania</a:t>
            </a:r>
            <a:r>
              <a:rPr dirty="0"/>
              <a:t> </a:t>
            </a:r>
            <a:r>
              <a:rPr dirty="0" err="1"/>
              <a:t>eksperta</a:t>
            </a:r>
            <a:endParaRPr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endParaRPr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rPr dirty="0"/>
              <a:t>3. </a:t>
            </a:r>
            <a:r>
              <a:rPr lang="pl-PL" dirty="0"/>
              <a:t>Weryfikacja d</a:t>
            </a:r>
            <a:r>
              <a:rPr dirty="0" err="1"/>
              <a:t>ostępn</a:t>
            </a:r>
            <a:r>
              <a:rPr lang="pl-PL" dirty="0" err="1"/>
              <a:t>ych</a:t>
            </a:r>
            <a:r>
              <a:rPr dirty="0"/>
              <a:t> dan</a:t>
            </a:r>
            <a:r>
              <a:rPr lang="pl-PL" dirty="0" err="1"/>
              <a:t>ych</a:t>
            </a:r>
            <a:r>
              <a:rPr dirty="0"/>
              <a:t> </a:t>
            </a:r>
            <a:r>
              <a:rPr dirty="0" err="1"/>
              <a:t>oraz</a:t>
            </a:r>
            <a:r>
              <a:rPr dirty="0"/>
              <a:t> </a:t>
            </a:r>
            <a:r>
              <a:rPr dirty="0" err="1"/>
              <a:t>narzędzi</a:t>
            </a:r>
            <a:endParaRPr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endParaRPr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rPr dirty="0"/>
              <a:t>4. Analiza </a:t>
            </a:r>
            <a:r>
              <a:rPr dirty="0" err="1"/>
              <a:t>deterministycznych</a:t>
            </a:r>
            <a:r>
              <a:rPr dirty="0"/>
              <a:t> </a:t>
            </a:r>
            <a:r>
              <a:rPr dirty="0" err="1"/>
              <a:t>powiązań</a:t>
            </a:r>
            <a:endParaRPr lang="pl-PL"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endParaRPr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rPr dirty="0"/>
              <a:t>5. </a:t>
            </a:r>
            <a:r>
              <a:rPr dirty="0" err="1"/>
              <a:t>Określenie</a:t>
            </a:r>
            <a:r>
              <a:rPr dirty="0"/>
              <a:t> </a:t>
            </a:r>
            <a:r>
              <a:rPr lang="pl-PL" dirty="0"/>
              <a:t>i uzupełnienie </a:t>
            </a:r>
            <a:r>
              <a:rPr dirty="0" err="1"/>
              <a:t>luk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braków</a:t>
            </a:r>
            <a:endParaRPr lang="pl-PL"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endParaRPr lang="pl-PL"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rPr lang="pl-PL" dirty="0"/>
              <a:t>6. Podział na podzadania</a:t>
            </a:r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endParaRPr lang="pl-PL"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rPr lang="pl-PL" dirty="0"/>
              <a:t>7. Koordynacja</a:t>
            </a:r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endParaRPr lang="pl-PL" dirty="0"/>
          </a:p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rPr lang="pl-PL" dirty="0"/>
              <a:t>8. Mapowanie na oczekiwany </a:t>
            </a:r>
            <a:r>
              <a:rPr lang="pl-PL" dirty="0" err="1"/>
              <a:t>rezulat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25081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084DF98-02F1-495F-A046-E68162C6D3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00EB74-AC5D-4DA8-A1A5-D0ED14AAF65F}"/>
              </a:ext>
            </a:extLst>
          </p:cNvPr>
          <p:cNvSpPr>
            <a:spLocks noGrp="1"/>
          </p:cNvSpPr>
          <p:nvPr/>
        </p:nvSpPr>
        <p:spPr>
          <a:xfrm>
            <a:off x="914400" y="6096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98FA76-F729-4A1A-BD10-DFB2EEF5DCD3}"/>
              </a:ext>
            </a:extLst>
          </p:cNvPr>
          <p:cNvSpPr>
            <a:spLocks noGrp="1"/>
          </p:cNvSpPr>
          <p:nvPr/>
        </p:nvSpPr>
        <p:spPr>
          <a:xfrm>
            <a:off x="3143250" y="704850"/>
            <a:ext cx="11334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D7EBDE-5B49-4D96-9FC4-EF8B9412C6DB}"/>
              </a:ext>
            </a:extLst>
          </p:cNvPr>
          <p:cNvSpPr>
            <a:spLocks noGrp="1"/>
          </p:cNvSpPr>
          <p:nvPr/>
        </p:nvSpPr>
        <p:spPr>
          <a:xfrm>
            <a:off x="14706600" y="6096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MANUALNA ANALIZA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642308-E356-41D3-9421-77DBF5648189}"/>
              </a:ext>
            </a:extLst>
          </p:cNvPr>
          <p:cNvSpPr>
            <a:spLocks noGrp="1"/>
          </p:cNvSpPr>
          <p:nvPr/>
        </p:nvSpPr>
        <p:spPr>
          <a:xfrm>
            <a:off x="914400" y="1066800"/>
            <a:ext cx="14951676" cy="800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250" b="1" i="0">
                <a:solidFill>
                  <a:srgbClr val="1D1D1F"/>
                </a:solidFill>
              </a:defRPr>
            </a:pPr>
            <a:r>
              <a:t>AI </a:t>
            </a:r>
            <a:r>
              <a:rPr>
                <a:solidFill>
                  <a:srgbClr val="FF0000"/>
                </a:solidFill>
              </a:rPr>
              <a:t>nie</a:t>
            </a:r>
            <a:r>
              <a:t> </a:t>
            </a:r>
            <a:r>
              <a:rPr>
                <a:solidFill>
                  <a:srgbClr val="FF0000"/>
                </a:solidFill>
              </a:rPr>
              <a:t>zastępuje</a:t>
            </a:r>
            <a:r>
              <a:t> manualnej analizy zagadnienia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3B71B8-4B92-4C39-B0A3-A88B1A160944}"/>
              </a:ext>
            </a:extLst>
          </p:cNvPr>
          <p:cNvSpPr>
            <a:spLocks noGrp="1"/>
          </p:cNvSpPr>
          <p:nvPr/>
        </p:nvSpPr>
        <p:spPr>
          <a:xfrm>
            <a:off x="914400" y="9486900"/>
            <a:ext cx="158496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200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B83FEE-D318-464D-AA02-809C71CF7BE2}"/>
              </a:ext>
            </a:extLst>
          </p:cNvPr>
          <p:cNvSpPr>
            <a:spLocks noGrp="1"/>
          </p:cNvSpPr>
          <p:nvPr/>
        </p:nvSpPr>
        <p:spPr>
          <a:xfrm>
            <a:off x="16954500" y="948690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03</a:t>
            </a:r>
          </a:p>
        </p:txBody>
      </p:sp>
      <p:sp>
        <p:nvSpPr>
          <p:cNvPr id="6" name="Rectangle: Rounded Corners 6">
            <a:extLst>
              <a:ext uri="{FF2B5EF4-FFF2-40B4-BE49-F238E27FC236}">
                <a16:creationId xmlns:a16="http://schemas.microsoft.com/office/drawing/2014/main" id="{7039C5C9-E075-6248-5442-3B99BA16AE5B}"/>
              </a:ext>
            </a:extLst>
          </p:cNvPr>
          <p:cNvSpPr>
            <a:spLocks noGrp="1"/>
          </p:cNvSpPr>
          <p:nvPr/>
        </p:nvSpPr>
        <p:spPr>
          <a:xfrm>
            <a:off x="4231574" y="23404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5BC45558-217B-E300-921C-37A82DB19791}"/>
              </a:ext>
            </a:extLst>
          </p:cNvPr>
          <p:cNvSpPr>
            <a:spLocks noGrp="1"/>
          </p:cNvSpPr>
          <p:nvPr/>
        </p:nvSpPr>
        <p:spPr>
          <a:xfrm>
            <a:off x="4403024" y="2454729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55FD7A9F-35BA-D38B-9125-B4A8255AD635}"/>
              </a:ext>
            </a:extLst>
          </p:cNvPr>
          <p:cNvSpPr>
            <a:spLocks noGrp="1"/>
          </p:cNvSpPr>
          <p:nvPr/>
        </p:nvSpPr>
        <p:spPr>
          <a:xfrm>
            <a:off x="2707574" y="2950029"/>
            <a:ext cx="3505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t>Co automatyzujemy?</a:t>
            </a:r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BFAE25CC-FF80-408F-ACE5-1BCF5B4B79E6}"/>
              </a:ext>
            </a:extLst>
          </p:cNvPr>
          <p:cNvSpPr>
            <a:spLocks noGrp="1"/>
          </p:cNvSpPr>
          <p:nvPr/>
        </p:nvSpPr>
        <p:spPr>
          <a:xfrm>
            <a:off x="2707574" y="3445329"/>
            <a:ext cx="35052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Co jest problemem i jaki rezultat chcemy osiągnąć?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F834E1B7-5333-2C23-7DF1-D8DCCAB65801}"/>
              </a:ext>
            </a:extLst>
          </p:cNvPr>
          <p:cNvSpPr>
            <a:spLocks noGrp="1"/>
          </p:cNvSpPr>
          <p:nvPr/>
        </p:nvSpPr>
        <p:spPr>
          <a:xfrm>
            <a:off x="6403274" y="2950029"/>
            <a:ext cx="4191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 b="0" i="0">
                <a:solidFill>
                  <a:srgbClr val="D2D2D7"/>
                </a:solidFill>
              </a:defRPr>
            </a:pPr>
            <a:r>
              <a:t>→</a:t>
            </a:r>
          </a:p>
        </p:txBody>
      </p:sp>
      <p:sp>
        <p:nvSpPr>
          <p:cNvPr id="11" name="Rectangle: Rounded Corners 11">
            <a:extLst>
              <a:ext uri="{FF2B5EF4-FFF2-40B4-BE49-F238E27FC236}">
                <a16:creationId xmlns:a16="http://schemas.microsoft.com/office/drawing/2014/main" id="{ADF3349A-4A63-4AD3-6F4C-8C25B3B306AE}"/>
              </a:ext>
            </a:extLst>
          </p:cNvPr>
          <p:cNvSpPr>
            <a:spLocks noGrp="1"/>
          </p:cNvSpPr>
          <p:nvPr/>
        </p:nvSpPr>
        <p:spPr>
          <a:xfrm>
            <a:off x="8555924" y="23404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0AE5F7FC-3699-B72C-55D2-3A889C9CDC6F}"/>
              </a:ext>
            </a:extLst>
          </p:cNvPr>
          <p:cNvSpPr>
            <a:spLocks noGrp="1"/>
          </p:cNvSpPr>
          <p:nvPr/>
        </p:nvSpPr>
        <p:spPr>
          <a:xfrm>
            <a:off x="8727374" y="2454729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Rectangle 13">
            <a:extLst>
              <a:ext uri="{FF2B5EF4-FFF2-40B4-BE49-F238E27FC236}">
                <a16:creationId xmlns:a16="http://schemas.microsoft.com/office/drawing/2014/main" id="{7DD99756-2AEC-626B-1844-0B3D5EBC5D50}"/>
              </a:ext>
            </a:extLst>
          </p:cNvPr>
          <p:cNvSpPr>
            <a:spLocks noGrp="1"/>
          </p:cNvSpPr>
          <p:nvPr/>
        </p:nvSpPr>
        <p:spPr>
          <a:xfrm>
            <a:off x="7031924" y="2950029"/>
            <a:ext cx="350520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t>Manualny playbook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9C896A65-0D79-5AAD-461D-4268F133ABD9}"/>
              </a:ext>
            </a:extLst>
          </p:cNvPr>
          <p:cNvSpPr>
            <a:spLocks noGrp="1"/>
          </p:cNvSpPr>
          <p:nvPr/>
        </p:nvSpPr>
        <p:spPr>
          <a:xfrm>
            <a:off x="7031924" y="3445329"/>
            <a:ext cx="35052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Jak bym to zrobił manualnie?</a:t>
            </a:r>
          </a:p>
        </p:txBody>
      </p:sp>
      <p:sp>
        <p:nvSpPr>
          <p:cNvPr id="18" name="Rectangle 15">
            <a:extLst>
              <a:ext uri="{FF2B5EF4-FFF2-40B4-BE49-F238E27FC236}">
                <a16:creationId xmlns:a16="http://schemas.microsoft.com/office/drawing/2014/main" id="{0286387C-9B76-5DFA-6464-FCAB94147ABB}"/>
              </a:ext>
            </a:extLst>
          </p:cNvPr>
          <p:cNvSpPr>
            <a:spLocks noGrp="1"/>
          </p:cNvSpPr>
          <p:nvPr/>
        </p:nvSpPr>
        <p:spPr>
          <a:xfrm>
            <a:off x="10727624" y="2950029"/>
            <a:ext cx="4191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 b="0" i="0">
                <a:solidFill>
                  <a:srgbClr val="D2D2D7"/>
                </a:solidFill>
              </a:defRPr>
            </a:pPr>
            <a:r>
              <a:t>→</a:t>
            </a:r>
          </a:p>
        </p:txBody>
      </p:sp>
      <p:sp>
        <p:nvSpPr>
          <p:cNvPr id="19" name="Rectangle: Rounded Corners 16">
            <a:extLst>
              <a:ext uri="{FF2B5EF4-FFF2-40B4-BE49-F238E27FC236}">
                <a16:creationId xmlns:a16="http://schemas.microsoft.com/office/drawing/2014/main" id="{A3A21931-F60B-4775-6BAE-9208B6F61CE3}"/>
              </a:ext>
            </a:extLst>
          </p:cNvPr>
          <p:cNvSpPr>
            <a:spLocks noGrp="1"/>
          </p:cNvSpPr>
          <p:nvPr/>
        </p:nvSpPr>
        <p:spPr>
          <a:xfrm>
            <a:off x="12880274" y="2340429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69549066-FE75-57FC-DD29-235E8FF8940B}"/>
              </a:ext>
            </a:extLst>
          </p:cNvPr>
          <p:cNvSpPr>
            <a:spLocks noGrp="1"/>
          </p:cNvSpPr>
          <p:nvPr/>
        </p:nvSpPr>
        <p:spPr>
          <a:xfrm>
            <a:off x="13051724" y="2454729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Rectangle 18">
            <a:extLst>
              <a:ext uri="{FF2B5EF4-FFF2-40B4-BE49-F238E27FC236}">
                <a16:creationId xmlns:a16="http://schemas.microsoft.com/office/drawing/2014/main" id="{451E52A3-918E-C8C7-2666-5CF53A05C79E}"/>
              </a:ext>
            </a:extLst>
          </p:cNvPr>
          <p:cNvSpPr>
            <a:spLocks noGrp="1"/>
          </p:cNvSpPr>
          <p:nvPr/>
        </p:nvSpPr>
        <p:spPr>
          <a:xfrm>
            <a:off x="11519064" y="2964873"/>
            <a:ext cx="3342409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250" b="1" i="0">
                <a:solidFill>
                  <a:srgbClr val="1D1D1F"/>
                </a:solidFill>
              </a:defRPr>
            </a:pPr>
            <a:r>
              <a:t>Mapowanie na dostępne narzędzia</a:t>
            </a:r>
          </a:p>
        </p:txBody>
      </p:sp>
      <p:sp>
        <p:nvSpPr>
          <p:cNvPr id="22" name="Rectangle 19">
            <a:extLst>
              <a:ext uri="{FF2B5EF4-FFF2-40B4-BE49-F238E27FC236}">
                <a16:creationId xmlns:a16="http://schemas.microsoft.com/office/drawing/2014/main" id="{3E733836-B704-C55C-0769-FAE66D192A2F}"/>
              </a:ext>
            </a:extLst>
          </p:cNvPr>
          <p:cNvSpPr>
            <a:spLocks noGrp="1"/>
          </p:cNvSpPr>
          <p:nvPr/>
        </p:nvSpPr>
        <p:spPr>
          <a:xfrm>
            <a:off x="11437668" y="3678443"/>
            <a:ext cx="35052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Co mamy do dyspozycji?</a:t>
            </a:r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B3A13114-47CB-2DAC-7835-F5FCE6143DF9}"/>
              </a:ext>
            </a:extLst>
          </p:cNvPr>
          <p:cNvSpPr>
            <a:spLocks noGrp="1"/>
          </p:cNvSpPr>
          <p:nvPr/>
        </p:nvSpPr>
        <p:spPr>
          <a:xfrm>
            <a:off x="2764724" y="4436238"/>
            <a:ext cx="3505200" cy="3643746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 dirty="0"/>
              <a:t>Problem: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dirty="0"/>
              <a:t>- </a:t>
            </a:r>
            <a:r>
              <a:rPr dirty="0" err="1"/>
              <a:t>Zebranie</a:t>
            </a:r>
            <a:r>
              <a:rPr dirty="0"/>
              <a:t> </a:t>
            </a:r>
            <a:r>
              <a:rPr dirty="0" err="1"/>
              <a:t>wartościowych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do </a:t>
            </a:r>
            <a:r>
              <a:rPr dirty="0" err="1"/>
              <a:t>zgłoszenia</a:t>
            </a:r>
            <a:r>
              <a:rPr dirty="0"/>
              <a:t> </a:t>
            </a:r>
            <a:r>
              <a:rPr dirty="0" err="1"/>
              <a:t>błędu</a:t>
            </a:r>
            <a:r>
              <a:rPr dirty="0"/>
              <a:t> jest </a:t>
            </a:r>
            <a:r>
              <a:rPr dirty="0" err="1"/>
              <a:t>drogie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wymaga</a:t>
            </a:r>
            <a:r>
              <a:rPr dirty="0"/>
              <a:t> </a:t>
            </a:r>
            <a:r>
              <a:rPr dirty="0" err="1"/>
              <a:t>kompetencji</a:t>
            </a:r>
            <a:r>
              <a:rPr dirty="0"/>
              <a:t>.</a:t>
            </a:r>
          </a:p>
          <a:p>
            <a:pPr marL="285750" indent="-285750" algn="ctr">
              <a:buChar char="-"/>
              <a:defRPr sz="1575" b="0" i="0">
                <a:solidFill>
                  <a:srgbClr val="6E6E73"/>
                </a:solidFill>
              </a:defRPr>
            </a:pPr>
            <a:r>
              <a:rPr dirty="0" err="1"/>
              <a:t>Zgłoszenia</a:t>
            </a:r>
            <a:r>
              <a:rPr dirty="0"/>
              <a:t> </a:t>
            </a:r>
            <a:r>
              <a:rPr dirty="0" err="1"/>
              <a:t>błędów</a:t>
            </a:r>
            <a:r>
              <a:rPr dirty="0"/>
              <a:t> to w </a:t>
            </a:r>
            <a:r>
              <a:rPr dirty="0" err="1"/>
              <a:t>uproszczeniu</a:t>
            </a:r>
            <a:r>
              <a:rPr dirty="0"/>
              <a:t>  „</a:t>
            </a:r>
            <a:r>
              <a:rPr dirty="0" err="1"/>
              <a:t>correlationId</a:t>
            </a:r>
            <a:r>
              <a:rPr dirty="0"/>
              <a:t>”</a:t>
            </a:r>
          </a:p>
          <a:p>
            <a:pPr marL="285750" indent="-285750" algn="ctr">
              <a:buChar char="-"/>
              <a:defRPr sz="1575" b="0" i="0">
                <a:solidFill>
                  <a:srgbClr val="6E6E73"/>
                </a:solidFill>
              </a:defRPr>
            </a:pPr>
            <a:r>
              <a:rPr dirty="0" err="1"/>
              <a:t>Nikt</a:t>
            </a:r>
            <a:r>
              <a:rPr dirty="0"/>
              <a:t> </a:t>
            </a:r>
            <a:r>
              <a:rPr dirty="0" err="1"/>
              <a:t>się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</a:t>
            </a:r>
            <a:r>
              <a:rPr dirty="0" err="1"/>
              <a:t>zgłasza</a:t>
            </a:r>
            <a:r>
              <a:rPr dirty="0"/>
              <a:t> do </a:t>
            </a:r>
            <a:r>
              <a:rPr dirty="0" err="1"/>
              <a:t>podjęcia</a:t>
            </a:r>
            <a:r>
              <a:rPr dirty="0"/>
              <a:t> </a:t>
            </a:r>
            <a:r>
              <a:rPr dirty="0" err="1"/>
              <a:t>błędu</a:t>
            </a:r>
            <a:endParaRPr dirty="0"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 dirty="0"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 dirty="0"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 dirty="0" err="1"/>
              <a:t>Rezultat</a:t>
            </a:r>
            <a:r>
              <a:rPr b="1" dirty="0"/>
              <a:t> </a:t>
            </a:r>
            <a:r>
              <a:rPr b="1" dirty="0" err="1"/>
              <a:t>który</a:t>
            </a:r>
            <a:r>
              <a:rPr b="1" dirty="0"/>
              <a:t> </a:t>
            </a:r>
            <a:r>
              <a:rPr b="1" dirty="0" err="1"/>
              <a:t>chcemy</a:t>
            </a:r>
            <a:r>
              <a:rPr b="1" dirty="0"/>
              <a:t> </a:t>
            </a:r>
            <a:r>
              <a:rPr b="1" dirty="0" err="1"/>
              <a:t>osiągnąć</a:t>
            </a:r>
            <a:r>
              <a:rPr b="1" dirty="0"/>
              <a:t>: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dirty="0" err="1"/>
              <a:t>Szybkie</a:t>
            </a:r>
            <a:r>
              <a:rPr dirty="0"/>
              <a:t> </a:t>
            </a:r>
            <a:r>
              <a:rPr dirty="0" err="1"/>
              <a:t>zebranie</a:t>
            </a:r>
            <a:r>
              <a:rPr dirty="0"/>
              <a:t> </a:t>
            </a:r>
            <a:r>
              <a:rPr dirty="0" err="1"/>
              <a:t>wartościowych</a:t>
            </a:r>
            <a:r>
              <a:rPr dirty="0"/>
              <a:t> </a:t>
            </a:r>
            <a:r>
              <a:rPr dirty="0" err="1"/>
              <a:t>danych</a:t>
            </a:r>
            <a:r>
              <a:rPr dirty="0"/>
              <a:t> </a:t>
            </a:r>
            <a:r>
              <a:rPr dirty="0" err="1"/>
              <a:t>które</a:t>
            </a:r>
            <a:r>
              <a:rPr dirty="0"/>
              <a:t> </a:t>
            </a:r>
            <a:r>
              <a:rPr dirty="0" err="1"/>
              <a:t>przyspieszą</a:t>
            </a:r>
            <a:r>
              <a:rPr dirty="0"/>
              <a:t> </a:t>
            </a:r>
            <a:r>
              <a:rPr dirty="0" err="1"/>
              <a:t>odnalezienie</a:t>
            </a:r>
            <a:r>
              <a:rPr dirty="0"/>
              <a:t> </a:t>
            </a:r>
            <a:r>
              <a:rPr dirty="0" err="1"/>
              <a:t>zespołu</a:t>
            </a:r>
            <a:r>
              <a:rPr dirty="0"/>
              <a:t> </a:t>
            </a:r>
            <a:r>
              <a:rPr dirty="0" err="1"/>
              <a:t>który</a:t>
            </a:r>
            <a:r>
              <a:rPr dirty="0"/>
              <a:t> </a:t>
            </a:r>
            <a:r>
              <a:rPr dirty="0" err="1"/>
              <a:t>najefektywniej</a:t>
            </a:r>
            <a:r>
              <a:rPr dirty="0"/>
              <a:t> </a:t>
            </a:r>
            <a:r>
              <a:rPr dirty="0" err="1"/>
              <a:t>wdroży</a:t>
            </a:r>
            <a:r>
              <a:rPr dirty="0"/>
              <a:t> </a:t>
            </a:r>
            <a:r>
              <a:rPr dirty="0" err="1"/>
              <a:t>poprawkę</a:t>
            </a:r>
            <a:r>
              <a:rPr dirty="0"/>
              <a:t> </a:t>
            </a:r>
            <a:r>
              <a:rPr dirty="0" err="1"/>
              <a:t>oraz</a:t>
            </a:r>
            <a:r>
              <a:rPr dirty="0"/>
              <a:t> </a:t>
            </a:r>
            <a:r>
              <a:rPr dirty="0" err="1"/>
              <a:t>przekazanie</a:t>
            </a:r>
            <a:r>
              <a:rPr dirty="0"/>
              <a:t> mu </a:t>
            </a:r>
            <a:r>
              <a:rPr dirty="0" err="1"/>
              <a:t>informacji</a:t>
            </a:r>
            <a:r>
              <a:rPr dirty="0"/>
              <a:t> </a:t>
            </a:r>
            <a:r>
              <a:rPr dirty="0" err="1"/>
              <a:t>które</a:t>
            </a:r>
            <a:r>
              <a:rPr dirty="0"/>
              <a:t> mu to </a:t>
            </a:r>
            <a:r>
              <a:rPr dirty="0" err="1"/>
              <a:t>ułatwią</a:t>
            </a:r>
            <a:r>
              <a:rPr dirty="0"/>
              <a:t>.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 dirty="0"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 dirty="0"/>
          </a:p>
        </p:txBody>
      </p:sp>
      <p:sp>
        <p:nvSpPr>
          <p:cNvPr id="30" name="Rectangle 9">
            <a:extLst>
              <a:ext uri="{FF2B5EF4-FFF2-40B4-BE49-F238E27FC236}">
                <a16:creationId xmlns:a16="http://schemas.microsoft.com/office/drawing/2014/main" id="{459E303D-C521-E238-B11B-78420A65DC68}"/>
              </a:ext>
            </a:extLst>
          </p:cNvPr>
          <p:cNvSpPr>
            <a:spLocks noGrp="1"/>
          </p:cNvSpPr>
          <p:nvPr/>
        </p:nvSpPr>
        <p:spPr>
          <a:xfrm>
            <a:off x="6974774" y="4436237"/>
            <a:ext cx="3505200" cy="4571691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Pobranie logów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↓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/>
              <a:t>Manualna interpretacja logów 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↓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Pobranie trace/stats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↓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/>
              <a:t>Manualna interpretacja danych 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↓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Pobranie kodu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↓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/>
              <a:t>Manualna  interpretacja kodu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↓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Weryfikacja danych w DB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↓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/>
              <a:t>Manualna  interpretacja danych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↓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Agregacja - Filtrowanie - Mapowanie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zebranych wniosków na rezultat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t>oczekiwany przez odbiorcę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DCE3DA4B-7941-CB92-D104-5A79134712A0}"/>
              </a:ext>
            </a:extLst>
          </p:cNvPr>
          <p:cNvSpPr>
            <a:spLocks noGrp="1"/>
          </p:cNvSpPr>
          <p:nvPr/>
        </p:nvSpPr>
        <p:spPr>
          <a:xfrm>
            <a:off x="11299124" y="4436237"/>
            <a:ext cx="3505200" cy="5598413"/>
          </a:xfrm>
          <a:prstGeom prst="rect">
            <a:avLst/>
          </a:prstGeom>
        </p:spPr>
        <p:txBody>
          <a:bodyPr lIns="0" tIns="0" rIns="0" bIns="0"/>
          <a:lstStyle/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r>
              <a:rPr b="1"/>
              <a:t>Elastic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Daty początku i końca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Lista komponentów (</a:t>
            </a:r>
            <a:r>
              <a:rPr sz="1575"/>
              <a:t>deployment</a:t>
            </a:r>
            <a:r>
              <a:t>)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Środowisko (</a:t>
            </a:r>
            <a:r>
              <a:rPr sz="1575"/>
              <a:t>namespace)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rPr sz="1575"/>
              <a:t>Lista endpointów - treść logów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rPr sz="1575"/>
              <a:t>Lista klas – treść logów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endParaRPr sz="1575"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sz="1575" b="1"/>
              <a:t>2</a:t>
            </a:r>
            <a:r>
              <a:rPr sz="1575"/>
              <a:t>. </a:t>
            </a:r>
            <a:r>
              <a:rPr sz="1575" b="1"/>
              <a:t>Dynatrace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rPr sz="1575"/>
              <a:t>Stabilność środowiska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rPr sz="1575"/>
              <a:t>Stabilność infrastruktury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„Problemy” – wykrywane out of box przez narzędzie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Trace – niedostępny restowo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/>
              <a:t>3. Gitlab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Implementacja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Konfiguracja</a:t>
            </a:r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/>
              <a:t>4. Oracle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Dane na środowisku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r>
              <a:t>Modele danych</a:t>
            </a:r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lphaLcParenR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marL="342900" indent="-342900" algn="ctr">
              <a:buAutoNum type="arabicPeriod"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34" name="Rectangle 15">
            <a:extLst>
              <a:ext uri="{FF2B5EF4-FFF2-40B4-BE49-F238E27FC236}">
                <a16:creationId xmlns:a16="http://schemas.microsoft.com/office/drawing/2014/main" id="{C4F284B3-A857-6FD1-3100-4AD93E0A7E2F}"/>
              </a:ext>
            </a:extLst>
          </p:cNvPr>
          <p:cNvSpPr>
            <a:spLocks noGrp="1"/>
          </p:cNvSpPr>
          <p:nvPr/>
        </p:nvSpPr>
        <p:spPr>
          <a:xfrm>
            <a:off x="15233813" y="2933700"/>
            <a:ext cx="419100" cy="3810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550" b="0" i="0">
                <a:solidFill>
                  <a:srgbClr val="D2D2D7"/>
                </a:solidFill>
              </a:defRPr>
            </a:pPr>
            <a: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83579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CEF72F9-337B-C08A-1384-F2719EFA9A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96A362-0037-9832-E78E-695BB63B2539}"/>
              </a:ext>
            </a:extLst>
          </p:cNvPr>
          <p:cNvSpPr>
            <a:spLocks noGrp="1"/>
          </p:cNvSpPr>
          <p:nvPr/>
        </p:nvSpPr>
        <p:spPr>
          <a:xfrm>
            <a:off x="914400" y="6096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3286CE-83D0-E7D7-A5FF-708166F57285}"/>
              </a:ext>
            </a:extLst>
          </p:cNvPr>
          <p:cNvSpPr>
            <a:spLocks noGrp="1"/>
          </p:cNvSpPr>
          <p:nvPr/>
        </p:nvSpPr>
        <p:spPr>
          <a:xfrm>
            <a:off x="3143250" y="704850"/>
            <a:ext cx="11334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5CC0E9-83B2-5B65-5E24-C19EC248F57F}"/>
              </a:ext>
            </a:extLst>
          </p:cNvPr>
          <p:cNvSpPr>
            <a:spLocks noGrp="1"/>
          </p:cNvSpPr>
          <p:nvPr/>
        </p:nvSpPr>
        <p:spPr>
          <a:xfrm>
            <a:off x="14706600" y="6096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DETERMINISTYCZNA KORELACJA FAKTÓW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00E023-E263-2CFA-BAE6-DCEF25717195}"/>
              </a:ext>
            </a:extLst>
          </p:cNvPr>
          <p:cNvSpPr>
            <a:spLocks noGrp="1"/>
          </p:cNvSpPr>
          <p:nvPr/>
        </p:nvSpPr>
        <p:spPr>
          <a:xfrm>
            <a:off x="914400" y="1066800"/>
            <a:ext cx="14951676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5250" b="1" i="0">
                <a:solidFill>
                  <a:srgbClr val="1D1D1F"/>
                </a:solidFill>
              </a:defRPr>
            </a:pPr>
            <a:r>
              <a:t>Deterministyczna </a:t>
            </a:r>
            <a:r>
              <a:rPr>
                <a:solidFill>
                  <a:srgbClr val="FF0000"/>
                </a:solidFill>
              </a:rPr>
              <a:t>korelacja faktów</a:t>
            </a:r>
          </a:p>
          <a:p>
            <a:pPr>
              <a:buNone/>
              <a:defRPr sz="5250" b="1" i="0">
                <a:solidFill>
                  <a:srgbClr val="1D1D1F"/>
                </a:solidFill>
              </a:defRPr>
            </a:pPr>
            <a:r>
              <a:t>w ramach narzędzi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CDF6D5E9-2048-925A-9BBC-31E0F70FCD06}"/>
              </a:ext>
            </a:extLst>
          </p:cNvPr>
          <p:cNvSpPr>
            <a:spLocks noGrp="1"/>
          </p:cNvSpPr>
          <p:nvPr/>
        </p:nvSpPr>
        <p:spPr>
          <a:xfrm>
            <a:off x="3242177" y="2282527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 i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55C65F14-3A1B-F8AD-A70D-94BED0694C73}"/>
              </a:ext>
            </a:extLst>
          </p:cNvPr>
          <p:cNvSpPr>
            <a:spLocks noGrp="1"/>
          </p:cNvSpPr>
          <p:nvPr/>
        </p:nvSpPr>
        <p:spPr>
          <a:xfrm>
            <a:off x="1546727" y="3273127"/>
            <a:ext cx="35052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28" name="Rectangle 9">
            <a:extLst>
              <a:ext uri="{FF2B5EF4-FFF2-40B4-BE49-F238E27FC236}">
                <a16:creationId xmlns:a16="http://schemas.microsoft.com/office/drawing/2014/main" id="{D4ED0931-2374-28CB-6054-2C869C81F5CF}"/>
              </a:ext>
            </a:extLst>
          </p:cNvPr>
          <p:cNvSpPr>
            <a:spLocks noGrp="1"/>
          </p:cNvSpPr>
          <p:nvPr/>
        </p:nvSpPr>
        <p:spPr>
          <a:xfrm>
            <a:off x="1603877" y="4264036"/>
            <a:ext cx="35052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ABD6D19B-E21A-D6B9-FC56-4ECFA477CCC1}"/>
              </a:ext>
            </a:extLst>
          </p:cNvPr>
          <p:cNvSpPr>
            <a:spLocks noGrp="1"/>
          </p:cNvSpPr>
          <p:nvPr/>
        </p:nvSpPr>
        <p:spPr>
          <a:xfrm>
            <a:off x="4236880" y="3846548"/>
            <a:ext cx="2550698" cy="3400838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36" name="Prostokąt: zaokrąglone rogi 35">
            <a:extLst>
              <a:ext uri="{FF2B5EF4-FFF2-40B4-BE49-F238E27FC236}">
                <a16:creationId xmlns:a16="http://schemas.microsoft.com/office/drawing/2014/main" id="{C8E10547-B79F-1FF4-79EA-650AAB6D9557}"/>
              </a:ext>
            </a:extLst>
          </p:cNvPr>
          <p:cNvSpPr>
            <a:spLocks noGrp="1"/>
          </p:cNvSpPr>
          <p:nvPr/>
        </p:nvSpPr>
        <p:spPr>
          <a:xfrm>
            <a:off x="4513639" y="4349139"/>
            <a:ext cx="2076326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daty start/stop</a:t>
            </a:r>
          </a:p>
        </p:txBody>
      </p:sp>
      <p:sp>
        <p:nvSpPr>
          <p:cNvPr id="37" name="Prostokąt: zaokrąglone rogi 36">
            <a:extLst>
              <a:ext uri="{FF2B5EF4-FFF2-40B4-BE49-F238E27FC236}">
                <a16:creationId xmlns:a16="http://schemas.microsoft.com/office/drawing/2014/main" id="{6D870BC7-BB92-A785-5CDE-9A6A30F1DBC1}"/>
              </a:ext>
            </a:extLst>
          </p:cNvPr>
          <p:cNvSpPr>
            <a:spLocks noGrp="1"/>
          </p:cNvSpPr>
          <p:nvPr/>
        </p:nvSpPr>
        <p:spPr>
          <a:xfrm>
            <a:off x="4501145" y="4873168"/>
            <a:ext cx="2088820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kontenery</a:t>
            </a:r>
          </a:p>
        </p:txBody>
      </p:sp>
      <p:sp>
        <p:nvSpPr>
          <p:cNvPr id="38" name="Prostokąt: zaokrąglone rogi 37">
            <a:extLst>
              <a:ext uri="{FF2B5EF4-FFF2-40B4-BE49-F238E27FC236}">
                <a16:creationId xmlns:a16="http://schemas.microsoft.com/office/drawing/2014/main" id="{02A9B9EC-A0A1-0D1E-46BA-EF488A6B97F1}"/>
              </a:ext>
            </a:extLst>
          </p:cNvPr>
          <p:cNvSpPr>
            <a:spLocks noGrp="1"/>
          </p:cNvSpPr>
          <p:nvPr/>
        </p:nvSpPr>
        <p:spPr>
          <a:xfrm>
            <a:off x="4500772" y="5373206"/>
            <a:ext cx="2088820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środowisko</a:t>
            </a:r>
          </a:p>
        </p:txBody>
      </p:sp>
      <p:sp>
        <p:nvSpPr>
          <p:cNvPr id="39" name="Prostokąt: zaokrąglone rogi 38">
            <a:extLst>
              <a:ext uri="{FF2B5EF4-FFF2-40B4-BE49-F238E27FC236}">
                <a16:creationId xmlns:a16="http://schemas.microsoft.com/office/drawing/2014/main" id="{CCA2F581-18A4-21B7-1F66-5EE0338DF21F}"/>
              </a:ext>
            </a:extLst>
          </p:cNvPr>
          <p:cNvSpPr>
            <a:spLocks noGrp="1"/>
          </p:cNvSpPr>
          <p:nvPr/>
        </p:nvSpPr>
        <p:spPr>
          <a:xfrm>
            <a:off x="4500772" y="5902698"/>
            <a:ext cx="2088820" cy="5703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requesty – dane + endpointy</a:t>
            </a:r>
          </a:p>
        </p:txBody>
      </p: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14F9CBA4-C298-5675-F076-1CD0E781B928}"/>
              </a:ext>
            </a:extLst>
          </p:cNvPr>
          <p:cNvSpPr>
            <a:spLocks noGrp="1"/>
          </p:cNvSpPr>
          <p:nvPr/>
        </p:nvSpPr>
        <p:spPr>
          <a:xfrm>
            <a:off x="4478332" y="6571316"/>
            <a:ext cx="2088820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stacktrace</a:t>
            </a:r>
          </a:p>
        </p:txBody>
      </p:sp>
      <p:sp>
        <p:nvSpPr>
          <p:cNvPr id="42" name="pole tekstowe 41">
            <a:extLst>
              <a:ext uri="{FF2B5EF4-FFF2-40B4-BE49-F238E27FC236}">
                <a16:creationId xmlns:a16="http://schemas.microsoft.com/office/drawing/2014/main" id="{B01D39FA-FC36-00E8-AB80-35AF8B734CF7}"/>
              </a:ext>
            </a:extLst>
          </p:cNvPr>
          <p:cNvSpPr>
            <a:spLocks noGrp="1"/>
          </p:cNvSpPr>
          <p:nvPr/>
        </p:nvSpPr>
        <p:spPr>
          <a:xfrm>
            <a:off x="4850333" y="3940780"/>
            <a:ext cx="1577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chemeClr val="bg1"/>
                </a:solidFill>
              </a:rPr>
              <a:t>Elasticsearch</a:t>
            </a:r>
          </a:p>
        </p:txBody>
      </p: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DE243AE9-F59C-1C0E-166F-E167C60AEE1F}"/>
              </a:ext>
            </a:extLst>
          </p:cNvPr>
          <p:cNvSpPr>
            <a:spLocks noGrp="1"/>
          </p:cNvSpPr>
          <p:nvPr/>
        </p:nvSpPr>
        <p:spPr>
          <a:xfrm>
            <a:off x="1030260" y="4799804"/>
            <a:ext cx="2481943" cy="1494325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35" name="Prostokąt: zaokrąglone rogi 34">
            <a:extLst>
              <a:ext uri="{FF2B5EF4-FFF2-40B4-BE49-F238E27FC236}">
                <a16:creationId xmlns:a16="http://schemas.microsoft.com/office/drawing/2014/main" id="{EDAEB66A-D5CC-0449-44C3-4A6F585F1B98}"/>
              </a:ext>
            </a:extLst>
          </p:cNvPr>
          <p:cNvSpPr>
            <a:spLocks noGrp="1"/>
          </p:cNvSpPr>
          <p:nvPr/>
        </p:nvSpPr>
        <p:spPr>
          <a:xfrm>
            <a:off x="1225585" y="5512459"/>
            <a:ext cx="2088820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b="1">
                <a:solidFill>
                  <a:schemeClr val="bg1"/>
                </a:solidFill>
              </a:rPr>
              <a:t>CorrelationId</a:t>
            </a:r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A3694EC9-57CD-8DDC-5C02-31F4E59FAB73}"/>
              </a:ext>
            </a:extLst>
          </p:cNvPr>
          <p:cNvSpPr>
            <a:spLocks noGrp="1"/>
          </p:cNvSpPr>
          <p:nvPr/>
        </p:nvSpPr>
        <p:spPr>
          <a:xfrm>
            <a:off x="1550270" y="5005504"/>
            <a:ext cx="1439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</a:rPr>
              <a:t>Przeglądarka</a:t>
            </a:r>
          </a:p>
        </p:txBody>
      </p:sp>
      <p:cxnSp>
        <p:nvCxnSpPr>
          <p:cNvPr id="46" name="Łącznik prosty ze strzałką 46"/>
          <p:cNvCxnSpPr>
            <a:stCxn id="24" idx="3"/>
            <a:endCxn id="29" idx="1"/>
          </p:cNvCxnSpPr>
          <p:nvPr/>
        </p:nvCxnSpPr>
        <p:spPr>
          <a:xfrm>
            <a:off x="3512203" y="5546967"/>
            <a:ext cx="72467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Prostokąt: zaokrąglone rogi 48">
            <a:extLst>
              <a:ext uri="{FF2B5EF4-FFF2-40B4-BE49-F238E27FC236}">
                <a16:creationId xmlns:a16="http://schemas.microsoft.com/office/drawing/2014/main" id="{28F84739-51DF-602B-D253-E99F599DB13B}"/>
              </a:ext>
            </a:extLst>
          </p:cNvPr>
          <p:cNvSpPr>
            <a:spLocks noGrp="1"/>
          </p:cNvSpPr>
          <p:nvPr/>
        </p:nvSpPr>
        <p:spPr>
          <a:xfrm>
            <a:off x="9556988" y="3696417"/>
            <a:ext cx="3434027" cy="1711821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50" name="Prostokąt: zaokrąglone rogi 49">
            <a:extLst>
              <a:ext uri="{FF2B5EF4-FFF2-40B4-BE49-F238E27FC236}">
                <a16:creationId xmlns:a16="http://schemas.microsoft.com/office/drawing/2014/main" id="{B5AEB481-9F59-EE40-DBCE-6926A93DC04F}"/>
              </a:ext>
            </a:extLst>
          </p:cNvPr>
          <p:cNvSpPr>
            <a:spLocks noGrp="1"/>
          </p:cNvSpPr>
          <p:nvPr/>
        </p:nvSpPr>
        <p:spPr>
          <a:xfrm>
            <a:off x="9848746" y="4238880"/>
            <a:ext cx="2872813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Problems</a:t>
            </a:r>
          </a:p>
        </p:txBody>
      </p:sp>
      <p:sp>
        <p:nvSpPr>
          <p:cNvPr id="51" name="Prostokąt: zaokrąglone rogi 50">
            <a:extLst>
              <a:ext uri="{FF2B5EF4-FFF2-40B4-BE49-F238E27FC236}">
                <a16:creationId xmlns:a16="http://schemas.microsoft.com/office/drawing/2014/main" id="{CC565573-E358-897B-1266-F00FC3AD85F8}"/>
              </a:ext>
            </a:extLst>
          </p:cNvPr>
          <p:cNvSpPr>
            <a:spLocks noGrp="1"/>
          </p:cNvSpPr>
          <p:nvPr/>
        </p:nvSpPr>
        <p:spPr>
          <a:xfrm>
            <a:off x="9831459" y="4762909"/>
            <a:ext cx="2890100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Runtime state</a:t>
            </a:r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A6B3BB90-9630-0E13-A101-39D60E65B25E}"/>
              </a:ext>
            </a:extLst>
          </p:cNvPr>
          <p:cNvSpPr>
            <a:spLocks noGrp="1"/>
          </p:cNvSpPr>
          <p:nvPr/>
        </p:nvSpPr>
        <p:spPr>
          <a:xfrm>
            <a:off x="10223744" y="3772824"/>
            <a:ext cx="21821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</a:rPr>
              <a:t>Dynatrace</a:t>
            </a:r>
          </a:p>
        </p:txBody>
      </p:sp>
      <p:cxnSp>
        <p:nvCxnSpPr>
          <p:cNvPr id="56" name="Łącznik prosty ze strzałką 57"/>
          <p:cNvCxnSpPr>
            <a:stCxn id="29" idx="3"/>
            <a:endCxn id="49" idx="1"/>
          </p:cNvCxnSpPr>
          <p:nvPr/>
        </p:nvCxnSpPr>
        <p:spPr>
          <a:xfrm flipV="1">
            <a:off x="6787578" y="4552328"/>
            <a:ext cx="2769410" cy="99463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Prostokąt: zaokrąglone rogi 70">
            <a:extLst>
              <a:ext uri="{FF2B5EF4-FFF2-40B4-BE49-F238E27FC236}">
                <a16:creationId xmlns:a16="http://schemas.microsoft.com/office/drawing/2014/main" id="{9F7AAD7C-5BCA-8D06-356E-62EF2F02DF2F}"/>
              </a:ext>
            </a:extLst>
          </p:cNvPr>
          <p:cNvSpPr>
            <a:spLocks noGrp="1"/>
          </p:cNvSpPr>
          <p:nvPr/>
        </p:nvSpPr>
        <p:spPr>
          <a:xfrm>
            <a:off x="9558800" y="5712285"/>
            <a:ext cx="3432215" cy="1711821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72" name="Prostokąt: zaokrąglone rogi 71">
            <a:extLst>
              <a:ext uri="{FF2B5EF4-FFF2-40B4-BE49-F238E27FC236}">
                <a16:creationId xmlns:a16="http://schemas.microsoft.com/office/drawing/2014/main" id="{35D3A0A4-EECD-973E-EF3F-9587682CADAA}"/>
              </a:ext>
            </a:extLst>
          </p:cNvPr>
          <p:cNvSpPr>
            <a:spLocks noGrp="1"/>
          </p:cNvSpPr>
          <p:nvPr/>
        </p:nvSpPr>
        <p:spPr>
          <a:xfrm>
            <a:off x="9850404" y="6254748"/>
            <a:ext cx="2871297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Implementacja</a:t>
            </a:r>
          </a:p>
        </p:txBody>
      </p:sp>
      <p:sp>
        <p:nvSpPr>
          <p:cNvPr id="73" name="Prostokąt: zaokrąglone rogi 72">
            <a:extLst>
              <a:ext uri="{FF2B5EF4-FFF2-40B4-BE49-F238E27FC236}">
                <a16:creationId xmlns:a16="http://schemas.microsoft.com/office/drawing/2014/main" id="{AEB2F0E8-1E2B-0A56-B69A-99D17555066E}"/>
              </a:ext>
            </a:extLst>
          </p:cNvPr>
          <p:cNvSpPr>
            <a:spLocks noGrp="1"/>
          </p:cNvSpPr>
          <p:nvPr/>
        </p:nvSpPr>
        <p:spPr>
          <a:xfrm>
            <a:off x="9833127" y="6778777"/>
            <a:ext cx="2888575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Konfiguracja</a:t>
            </a:r>
          </a:p>
        </p:txBody>
      </p:sp>
      <p:sp>
        <p:nvSpPr>
          <p:cNvPr id="74" name="pole tekstowe 73">
            <a:extLst>
              <a:ext uri="{FF2B5EF4-FFF2-40B4-BE49-F238E27FC236}">
                <a16:creationId xmlns:a16="http://schemas.microsoft.com/office/drawing/2014/main" id="{C5BC21A3-1804-C64D-0290-61073763CBC9}"/>
              </a:ext>
            </a:extLst>
          </p:cNvPr>
          <p:cNvSpPr>
            <a:spLocks noGrp="1"/>
          </p:cNvSpPr>
          <p:nvPr/>
        </p:nvSpPr>
        <p:spPr>
          <a:xfrm>
            <a:off x="10225205" y="5788692"/>
            <a:ext cx="21809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</a:rPr>
              <a:t>Gitlab</a:t>
            </a:r>
          </a:p>
        </p:txBody>
      </p:sp>
      <p:cxnSp>
        <p:nvCxnSpPr>
          <p:cNvPr id="75" name="Łącznik prosty ze strzałką 77"/>
          <p:cNvCxnSpPr>
            <a:stCxn id="29" idx="3"/>
            <a:endCxn id="71" idx="1"/>
          </p:cNvCxnSpPr>
          <p:nvPr/>
        </p:nvCxnSpPr>
        <p:spPr>
          <a:xfrm>
            <a:off x="6787578" y="5546967"/>
            <a:ext cx="2771222" cy="10212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F92541B9-BBD8-DF70-DB7F-8394483F4F6D}"/>
              </a:ext>
            </a:extLst>
          </p:cNvPr>
          <p:cNvSpPr>
            <a:spLocks noGrp="1"/>
          </p:cNvSpPr>
          <p:nvPr/>
        </p:nvSpPr>
        <p:spPr>
          <a:xfrm>
            <a:off x="9556987" y="7557810"/>
            <a:ext cx="3434028" cy="1865575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B460EA3A-E1BF-D916-380B-7D9CB22AB890}"/>
              </a:ext>
            </a:extLst>
          </p:cNvPr>
          <p:cNvSpPr>
            <a:spLocks noGrp="1"/>
          </p:cNvSpPr>
          <p:nvPr/>
        </p:nvSpPr>
        <p:spPr>
          <a:xfrm>
            <a:off x="9846238" y="8224587"/>
            <a:ext cx="2872814" cy="3997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Definicje </a:t>
            </a: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C4A590A2-A387-4BC1-4290-4A87C8F40435}"/>
              </a:ext>
            </a:extLst>
          </p:cNvPr>
          <p:cNvSpPr>
            <a:spLocks noGrp="1"/>
          </p:cNvSpPr>
          <p:nvPr/>
        </p:nvSpPr>
        <p:spPr>
          <a:xfrm>
            <a:off x="9828952" y="8702307"/>
            <a:ext cx="2890101" cy="3997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Relacje</a:t>
            </a:r>
          </a:p>
        </p:txBody>
      </p:sp>
      <p:sp>
        <p:nvSpPr>
          <p:cNvPr id="22" name="pole tekstowe 21">
            <a:extLst>
              <a:ext uri="{FF2B5EF4-FFF2-40B4-BE49-F238E27FC236}">
                <a16:creationId xmlns:a16="http://schemas.microsoft.com/office/drawing/2014/main" id="{027E2EE4-CD9E-CFF4-058B-E40E56081B4F}"/>
              </a:ext>
            </a:extLst>
          </p:cNvPr>
          <p:cNvSpPr>
            <a:spLocks noGrp="1"/>
          </p:cNvSpPr>
          <p:nvPr/>
        </p:nvSpPr>
        <p:spPr>
          <a:xfrm>
            <a:off x="10191583" y="7710147"/>
            <a:ext cx="2182123" cy="589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</a:rPr>
              <a:t>Operational Context</a:t>
            </a: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1A27FE26-6601-E8E2-2DDA-B14FB9241CC0}"/>
              </a:ext>
            </a:extLst>
          </p:cNvPr>
          <p:cNvSpPr>
            <a:spLocks noGrp="1"/>
          </p:cNvSpPr>
          <p:nvPr/>
        </p:nvSpPr>
        <p:spPr>
          <a:xfrm>
            <a:off x="14968152" y="5053434"/>
            <a:ext cx="2481943" cy="1078002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 sz="2000" b="1">
                <a:solidFill>
                  <a:schemeClr val="bg1"/>
                </a:solidFill>
              </a:rPr>
              <a:t>AI</a:t>
            </a:r>
          </a:p>
        </p:txBody>
      </p:sp>
      <p:sp>
        <p:nvSpPr>
          <p:cNvPr id="45" name="Prostokąt: zaokrąglone rogi 44">
            <a:extLst>
              <a:ext uri="{FF2B5EF4-FFF2-40B4-BE49-F238E27FC236}">
                <a16:creationId xmlns:a16="http://schemas.microsoft.com/office/drawing/2014/main" id="{CCB88DDD-B124-BCC1-074D-6D4BB41E2915}"/>
              </a:ext>
            </a:extLst>
          </p:cNvPr>
          <p:cNvSpPr>
            <a:spLocks noGrp="1"/>
          </p:cNvSpPr>
          <p:nvPr/>
        </p:nvSpPr>
        <p:spPr>
          <a:xfrm>
            <a:off x="9568547" y="1866900"/>
            <a:ext cx="3422468" cy="1711821"/>
          </a:xfrm>
          <a:prstGeom prst="roundRect">
            <a:avLst/>
          </a:prstGeom>
          <a:solidFill>
            <a:srgbClr val="0071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176" name="Prostokąt: zaokrąglone rogi 45">
            <a:extLst>
              <a:ext uri="{FF2B5EF4-FFF2-40B4-BE49-F238E27FC236}">
                <a16:creationId xmlns:a16="http://schemas.microsoft.com/office/drawing/2014/main" id="{DB2909FB-5DF3-4F7E-9824-BDDE53AE4227}"/>
              </a:ext>
            </a:extLst>
          </p:cNvPr>
          <p:cNvSpPr>
            <a:spLocks noGrp="1"/>
          </p:cNvSpPr>
          <p:nvPr/>
        </p:nvSpPr>
        <p:spPr>
          <a:xfrm>
            <a:off x="9859323" y="2409363"/>
            <a:ext cx="2863143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Dane</a:t>
            </a:r>
          </a:p>
        </p:txBody>
      </p:sp>
      <p:sp>
        <p:nvSpPr>
          <p:cNvPr id="48" name="Prostokąt: zaokrąglone rogi 47">
            <a:extLst>
              <a:ext uri="{FF2B5EF4-FFF2-40B4-BE49-F238E27FC236}">
                <a16:creationId xmlns:a16="http://schemas.microsoft.com/office/drawing/2014/main" id="{4973625C-6C41-0B33-0A38-13D7BF4A9F0D}"/>
              </a:ext>
            </a:extLst>
          </p:cNvPr>
          <p:cNvSpPr>
            <a:spLocks noGrp="1"/>
          </p:cNvSpPr>
          <p:nvPr/>
        </p:nvSpPr>
        <p:spPr>
          <a:xfrm>
            <a:off x="9842094" y="2933392"/>
            <a:ext cx="2880372" cy="43845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 sz="1575" b="0" i="0">
                <a:solidFill>
                  <a:srgbClr val="6E6E73"/>
                </a:solidFill>
              </a:defRPr>
            </a:pPr>
            <a:r>
              <a:rPr>
                <a:solidFill>
                  <a:schemeClr val="bg1"/>
                </a:solidFill>
              </a:rPr>
              <a:t>Model</a:t>
            </a:r>
          </a:p>
        </p:txBody>
      </p:sp>
      <p:sp>
        <p:nvSpPr>
          <p:cNvPr id="52" name="pole tekstowe 51">
            <a:extLst>
              <a:ext uri="{FF2B5EF4-FFF2-40B4-BE49-F238E27FC236}">
                <a16:creationId xmlns:a16="http://schemas.microsoft.com/office/drawing/2014/main" id="{5053BA16-1BFD-8579-1DD7-A432DA90B05E}"/>
              </a:ext>
            </a:extLst>
          </p:cNvPr>
          <p:cNvSpPr>
            <a:spLocks noGrp="1"/>
          </p:cNvSpPr>
          <p:nvPr/>
        </p:nvSpPr>
        <p:spPr>
          <a:xfrm>
            <a:off x="10233059" y="1943307"/>
            <a:ext cx="21747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b="1">
                <a:solidFill>
                  <a:schemeClr val="bg1"/>
                </a:solidFill>
              </a:rPr>
              <a:t>Database</a:t>
            </a:r>
          </a:p>
        </p:txBody>
      </p:sp>
      <p:cxnSp>
        <p:nvCxnSpPr>
          <p:cNvPr id="179" name="Łącznik prosty ze strzałką 52"/>
          <p:cNvCxnSpPr>
            <a:stCxn id="29" idx="3"/>
            <a:endCxn id="45" idx="1"/>
          </p:cNvCxnSpPr>
          <p:nvPr/>
        </p:nvCxnSpPr>
        <p:spPr>
          <a:xfrm flipV="1">
            <a:off x="6787578" y="2722811"/>
            <a:ext cx="2780969" cy="282415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0" name="Łącznik prosty ze strzałką 115"/>
          <p:cNvCxnSpPr>
            <a:stCxn id="29" idx="3"/>
            <a:endCxn id="19" idx="1"/>
          </p:cNvCxnSpPr>
          <p:nvPr/>
        </p:nvCxnSpPr>
        <p:spPr>
          <a:xfrm>
            <a:off x="6787578" y="5546967"/>
            <a:ext cx="2769409" cy="29436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1" name="Łącznik prosty ze strzałką 119"/>
          <p:cNvCxnSpPr>
            <a:stCxn id="45" idx="3"/>
          </p:cNvCxnSpPr>
          <p:nvPr/>
        </p:nvCxnSpPr>
        <p:spPr>
          <a:xfrm>
            <a:off x="12991015" y="2722811"/>
            <a:ext cx="1977137" cy="26854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2" name="Łącznik prosty ze strzałką 122"/>
          <p:cNvCxnSpPr>
            <a:stCxn id="49" idx="3"/>
          </p:cNvCxnSpPr>
          <p:nvPr/>
        </p:nvCxnSpPr>
        <p:spPr>
          <a:xfrm>
            <a:off x="12991015" y="4552328"/>
            <a:ext cx="1977137" cy="9194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3" name="Łącznik prosty ze strzałką 126"/>
          <p:cNvCxnSpPr>
            <a:stCxn id="71" idx="3"/>
          </p:cNvCxnSpPr>
          <p:nvPr/>
        </p:nvCxnSpPr>
        <p:spPr>
          <a:xfrm flipV="1">
            <a:off x="12991015" y="5750754"/>
            <a:ext cx="1977137" cy="8174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4" name="Łącznik prosty ze strzałką 129"/>
          <p:cNvCxnSpPr>
            <a:stCxn id="19" idx="3"/>
          </p:cNvCxnSpPr>
          <p:nvPr/>
        </p:nvCxnSpPr>
        <p:spPr>
          <a:xfrm flipV="1">
            <a:off x="12991015" y="5806832"/>
            <a:ext cx="1977137" cy="26837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5" name="Łącznik prosty ze strzałką 132"/>
          <p:cNvCxnSpPr>
            <a:stCxn id="29" idx="3"/>
            <a:endCxn id="25" idx="1"/>
          </p:cNvCxnSpPr>
          <p:nvPr/>
        </p:nvCxnSpPr>
        <p:spPr>
          <a:xfrm>
            <a:off x="6787578" y="5546967"/>
            <a:ext cx="8180574" cy="4546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5" name="Rectangle 14">
            <a:extLst>
              <a:ext uri="{FF2B5EF4-FFF2-40B4-BE49-F238E27FC236}">
                <a16:creationId xmlns:a16="http://schemas.microsoft.com/office/drawing/2014/main" id="{BC0071D3-77BC-6C7C-5449-E4A6ADE53C37}"/>
              </a:ext>
            </a:extLst>
          </p:cNvPr>
          <p:cNvSpPr>
            <a:spLocks noGrp="1"/>
          </p:cNvSpPr>
          <p:nvPr/>
        </p:nvSpPr>
        <p:spPr>
          <a:xfrm>
            <a:off x="16954500" y="948690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136972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06B466A-6F67-4A81-9B4E-79B47D93BB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2EA10D-82C4-4351-9FAF-66488C2EEB1A}"/>
              </a:ext>
            </a:extLst>
          </p:cNvPr>
          <p:cNvSpPr>
            <a:spLocks noGrp="1"/>
          </p:cNvSpPr>
          <p:nvPr/>
        </p:nvSpPr>
        <p:spPr>
          <a:xfrm>
            <a:off x="914400" y="6667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2A4B28-F9EB-4499-BCAD-7978BA56A76E}"/>
              </a:ext>
            </a:extLst>
          </p:cNvPr>
          <p:cNvSpPr>
            <a:spLocks noGrp="1"/>
          </p:cNvSpPr>
          <p:nvPr/>
        </p:nvSpPr>
        <p:spPr>
          <a:xfrm>
            <a:off x="2952750" y="762000"/>
            <a:ext cx="11715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87D9F7-7BE1-439E-AAA7-A8BCC73FF3E1}"/>
              </a:ext>
            </a:extLst>
          </p:cNvPr>
          <p:cNvSpPr>
            <a:spLocks noGrp="1"/>
          </p:cNvSpPr>
          <p:nvPr/>
        </p:nvSpPr>
        <p:spPr>
          <a:xfrm>
            <a:off x="14897100" y="6667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OPERATIONAL CONTEXT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801FE7-5B8A-49DB-9575-04F31A28AA51}"/>
              </a:ext>
            </a:extLst>
          </p:cNvPr>
          <p:cNvSpPr>
            <a:spLocks noGrp="1"/>
          </p:cNvSpPr>
          <p:nvPr/>
        </p:nvSpPr>
        <p:spPr>
          <a:xfrm>
            <a:off x="914400" y="1162050"/>
            <a:ext cx="16459200" cy="838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400" b="1">
                <a:solidFill>
                  <a:srgbClr val="FF0A0A"/>
                </a:solidFill>
              </a:defRPr>
            </a:pPr>
            <a:r>
              <a:t>Operational context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AB45C7-4BE0-4B41-BD23-11CFAEA7F111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16459200" cy="838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400" b="1">
                <a:solidFill>
                  <a:srgbClr val="1D1D1F"/>
                </a:solidFill>
              </a:defRPr>
            </a:pPr>
            <a:r>
              <a:t>wypełnia lukę korelacji.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94D481-A4AC-4F1D-A988-F0F02BF90328}"/>
              </a:ext>
            </a:extLst>
          </p:cNvPr>
          <p:cNvSpPr>
            <a:spLocks noGrp="1"/>
          </p:cNvSpPr>
          <p:nvPr/>
        </p:nvSpPr>
        <p:spPr>
          <a:xfrm>
            <a:off x="914400" y="2952750"/>
            <a:ext cx="62865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0">
                <a:solidFill>
                  <a:srgbClr val="6E6E73"/>
                </a:solidFill>
              </a:defRPr>
            </a:pPr>
            <a:r>
              <a:rPr dirty="0"/>
              <a:t>To </a:t>
            </a:r>
            <a:r>
              <a:rPr dirty="0" err="1"/>
              <a:t>wiedza</a:t>
            </a:r>
            <a:r>
              <a:rPr dirty="0"/>
              <a:t> z </a:t>
            </a:r>
            <a:r>
              <a:rPr dirty="0" err="1"/>
              <a:t>głowy</a:t>
            </a:r>
            <a:r>
              <a:rPr dirty="0"/>
              <a:t> </a:t>
            </a:r>
            <a:r>
              <a:rPr dirty="0" err="1"/>
              <a:t>zamieniona</a:t>
            </a:r>
            <a:r>
              <a:rPr dirty="0"/>
              <a:t> w tool </a:t>
            </a:r>
            <a:r>
              <a:rPr dirty="0" err="1"/>
              <a:t>dostępny</a:t>
            </a:r>
            <a:r>
              <a:rPr dirty="0"/>
              <a:t> </a:t>
            </a:r>
            <a:r>
              <a:rPr dirty="0" err="1"/>
              <a:t>dla</a:t>
            </a:r>
            <a:r>
              <a:rPr dirty="0"/>
              <a:t> </a:t>
            </a:r>
            <a:r>
              <a:rPr dirty="0" err="1"/>
              <a:t>agenta</a:t>
            </a:r>
            <a:r>
              <a:rPr dirty="0"/>
              <a:t>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688920-883B-4076-B585-1E1D7DDC680F}"/>
              </a:ext>
            </a:extLst>
          </p:cNvPr>
          <p:cNvSpPr>
            <a:spLocks noGrp="1"/>
          </p:cNvSpPr>
          <p:nvPr/>
        </p:nvSpPr>
        <p:spPr>
          <a:xfrm>
            <a:off x="914400" y="5219700"/>
            <a:ext cx="6457950" cy="5143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3300" b="1">
                <a:solidFill>
                  <a:srgbClr val="1D1D1F"/>
                </a:solidFill>
              </a:defRPr>
            </a:pPr>
            <a:r>
              <a:t>Pipeline miał fakty.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D9F7B9-E8E2-4AC2-B2E7-9DE735F5196A}"/>
              </a:ext>
            </a:extLst>
          </p:cNvPr>
          <p:cNvSpPr>
            <a:spLocks noGrp="1"/>
          </p:cNvSpPr>
          <p:nvPr/>
        </p:nvSpPr>
        <p:spPr>
          <a:xfrm>
            <a:off x="914400" y="5962650"/>
            <a:ext cx="6457950" cy="685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250" b="0">
                <a:solidFill>
                  <a:srgbClr val="6E6E73"/>
                </a:solidFill>
              </a:defRPr>
            </a:pPr>
            <a:r>
              <a:t>Nie miał mapy projektu, która pozwala osadzić je w systemie, procesie, zespole i handoffie.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96053DB-1B68-4686-BCFF-D44119314F49}"/>
              </a:ext>
            </a:extLst>
          </p:cNvPr>
          <p:cNvSpPr>
            <a:spLocks noGrp="1"/>
          </p:cNvSpPr>
          <p:nvPr/>
        </p:nvSpPr>
        <p:spPr>
          <a:xfrm>
            <a:off x="914400" y="6896100"/>
            <a:ext cx="6457950" cy="609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950" b="1">
                <a:solidFill>
                  <a:srgbClr val="1D1D1F"/>
                </a:solidFill>
              </a:defRPr>
            </a:pPr>
            <a:r>
              <a:t>Operational context powstał dopiero po manualnej analizie, gdy ta luka stała się widoczna.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658B59B-B7CD-4626-BC22-33089686D352}"/>
              </a:ext>
            </a:extLst>
          </p:cNvPr>
          <p:cNvSpPr>
            <a:spLocks noGrp="1"/>
          </p:cNvSpPr>
          <p:nvPr/>
        </p:nvSpPr>
        <p:spPr>
          <a:xfrm>
            <a:off x="8077200" y="42672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623810-6840-4D79-B10F-1E7D11E678B2}"/>
              </a:ext>
            </a:extLst>
          </p:cNvPr>
          <p:cNvSpPr>
            <a:spLocks noGrp="1"/>
          </p:cNvSpPr>
          <p:nvPr/>
        </p:nvSpPr>
        <p:spPr>
          <a:xfrm>
            <a:off x="8343900" y="4267200"/>
            <a:ext cx="9029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1D1D1F"/>
                </a:solidFill>
              </a:defRPr>
            </a:pPr>
            <a:r>
              <a:t>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B75BE6-6163-48F4-A4B3-703A90FCA712}"/>
              </a:ext>
            </a:extLst>
          </p:cNvPr>
          <p:cNvSpPr>
            <a:spLocks noGrp="1"/>
          </p:cNvSpPr>
          <p:nvPr/>
        </p:nvSpPr>
        <p:spPr>
          <a:xfrm>
            <a:off x="8343900" y="4629150"/>
            <a:ext cx="90297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kanoniczny punkt odniesienia dla runtime, repozytoriów i zakresu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08CAF1-EB32-48F0-8B66-514D82A44664}"/>
              </a:ext>
            </a:extLst>
          </p:cNvPr>
          <p:cNvSpPr>
            <a:spLocks noGrp="1"/>
          </p:cNvSpPr>
          <p:nvPr/>
        </p:nvSpPr>
        <p:spPr>
          <a:xfrm>
            <a:off x="8096250" y="5000625"/>
            <a:ext cx="92773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B3318E8-FC18-461F-86EA-54480720064D}"/>
              </a:ext>
            </a:extLst>
          </p:cNvPr>
          <p:cNvSpPr>
            <a:spLocks noGrp="1"/>
          </p:cNvSpPr>
          <p:nvPr/>
        </p:nvSpPr>
        <p:spPr>
          <a:xfrm>
            <a:off x="8077200" y="51816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E22F74-19B4-4C19-8CD6-89A5447E3557}"/>
              </a:ext>
            </a:extLst>
          </p:cNvPr>
          <p:cNvSpPr>
            <a:spLocks noGrp="1"/>
          </p:cNvSpPr>
          <p:nvPr/>
        </p:nvSpPr>
        <p:spPr>
          <a:xfrm>
            <a:off x="8343900" y="5162550"/>
            <a:ext cx="9029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1D1D1F"/>
                </a:solidFill>
              </a:defRPr>
            </a:pPr>
            <a:r>
              <a:t>Repozytorium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3770CD-2F91-49F8-8962-B03D377B34C0}"/>
              </a:ext>
            </a:extLst>
          </p:cNvPr>
          <p:cNvSpPr>
            <a:spLocks noGrp="1"/>
          </p:cNvSpPr>
          <p:nvPr/>
        </p:nvSpPr>
        <p:spPr>
          <a:xfrm>
            <a:off x="8343900" y="5524500"/>
            <a:ext cx="90297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gdzie agent ma szukać kodu dla danego systemu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A3D2C9-00CE-4541-B17F-B44B597968BA}"/>
              </a:ext>
            </a:extLst>
          </p:cNvPr>
          <p:cNvSpPr>
            <a:spLocks noGrp="1"/>
          </p:cNvSpPr>
          <p:nvPr/>
        </p:nvSpPr>
        <p:spPr>
          <a:xfrm>
            <a:off x="8096250" y="5905500"/>
            <a:ext cx="92773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23E6A49-DAE0-4A0F-B940-33658C5BE3E5}"/>
              </a:ext>
            </a:extLst>
          </p:cNvPr>
          <p:cNvSpPr>
            <a:spLocks noGrp="1"/>
          </p:cNvSpPr>
          <p:nvPr/>
        </p:nvSpPr>
        <p:spPr>
          <a:xfrm>
            <a:off x="8077200" y="60579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278687-BCC5-476B-8C99-2AC624C36EB5}"/>
              </a:ext>
            </a:extLst>
          </p:cNvPr>
          <p:cNvSpPr>
            <a:spLocks noGrp="1"/>
          </p:cNvSpPr>
          <p:nvPr/>
        </p:nvSpPr>
        <p:spPr>
          <a:xfrm>
            <a:off x="8343900" y="6057900"/>
            <a:ext cx="9029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1D1D1F"/>
                </a:solidFill>
              </a:defRPr>
            </a:pPr>
            <a:r>
              <a:t>Domena / bounded context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049AF6-65E0-4B0B-97AD-CEC949F1E60E}"/>
              </a:ext>
            </a:extLst>
          </p:cNvPr>
          <p:cNvSpPr>
            <a:spLocks noGrp="1"/>
          </p:cNvSpPr>
          <p:nvPr/>
        </p:nvSpPr>
        <p:spPr>
          <a:xfrm>
            <a:off x="8343900" y="6419850"/>
            <a:ext cx="90297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jak techniczny ślad połączyć z obszarem funkcjonalnym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9A2A72-B328-4897-BFC6-21AFE827D504}"/>
              </a:ext>
            </a:extLst>
          </p:cNvPr>
          <p:cNvSpPr>
            <a:spLocks noGrp="1"/>
          </p:cNvSpPr>
          <p:nvPr/>
        </p:nvSpPr>
        <p:spPr>
          <a:xfrm>
            <a:off x="8096250" y="6800850"/>
            <a:ext cx="92773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AFAA386-74E2-4F8F-B2F5-5E7322A680BB}"/>
              </a:ext>
            </a:extLst>
          </p:cNvPr>
          <p:cNvSpPr>
            <a:spLocks noGrp="1"/>
          </p:cNvSpPr>
          <p:nvPr/>
        </p:nvSpPr>
        <p:spPr>
          <a:xfrm>
            <a:off x="8077200" y="69723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0C0276-3FA1-4AE5-98CD-FB93080A9502}"/>
              </a:ext>
            </a:extLst>
          </p:cNvPr>
          <p:cNvSpPr>
            <a:spLocks noGrp="1"/>
          </p:cNvSpPr>
          <p:nvPr/>
        </p:nvSpPr>
        <p:spPr>
          <a:xfrm>
            <a:off x="8343900" y="6972300"/>
            <a:ext cx="9029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1D1D1F"/>
                </a:solidFill>
              </a:defRPr>
            </a:pPr>
            <a:r>
              <a:t>Zespół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735F64-4DF3-428E-B950-C4ADF82D6F9F}"/>
              </a:ext>
            </a:extLst>
          </p:cNvPr>
          <p:cNvSpPr>
            <a:spLocks noGrp="1"/>
          </p:cNvSpPr>
          <p:nvPr/>
        </p:nvSpPr>
        <p:spPr>
          <a:xfrm>
            <a:off x="8343900" y="7315200"/>
            <a:ext cx="90297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kto może przejąć naprawę albo dalszą analizę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2B8292-CA72-49AB-A207-F200FB526F3A}"/>
              </a:ext>
            </a:extLst>
          </p:cNvPr>
          <p:cNvSpPr>
            <a:spLocks noGrp="1"/>
          </p:cNvSpPr>
          <p:nvPr/>
        </p:nvSpPr>
        <p:spPr>
          <a:xfrm>
            <a:off x="8096250" y="7705725"/>
            <a:ext cx="92773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0571F0C-F077-4C47-AE8C-72C49FBD4442}"/>
              </a:ext>
            </a:extLst>
          </p:cNvPr>
          <p:cNvSpPr>
            <a:spLocks noGrp="1"/>
          </p:cNvSpPr>
          <p:nvPr/>
        </p:nvSpPr>
        <p:spPr>
          <a:xfrm>
            <a:off x="8077200" y="78486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D55EE8-1E21-4D64-A1E2-1FD82FFD4176}"/>
              </a:ext>
            </a:extLst>
          </p:cNvPr>
          <p:cNvSpPr>
            <a:spLocks noGrp="1"/>
          </p:cNvSpPr>
          <p:nvPr/>
        </p:nvSpPr>
        <p:spPr>
          <a:xfrm>
            <a:off x="8343900" y="7867650"/>
            <a:ext cx="90297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1D1D1F"/>
                </a:solidFill>
              </a:defRPr>
            </a:pPr>
            <a:r>
              <a:t>Terminy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4021AA3-2546-47BB-83F6-392D1681C0C0}"/>
              </a:ext>
            </a:extLst>
          </p:cNvPr>
          <p:cNvSpPr>
            <a:spLocks noGrp="1"/>
          </p:cNvSpPr>
          <p:nvPr/>
        </p:nvSpPr>
        <p:spPr>
          <a:xfrm>
            <a:off x="8343900" y="8210550"/>
            <a:ext cx="90297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język projektu potrzebny do poprawnej interpretacji faktów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5D1FDA6-542D-4B08-AC8C-39E2ED6DD81C}"/>
              </a:ext>
            </a:extLst>
          </p:cNvPr>
          <p:cNvSpPr>
            <a:spLocks noGrp="1"/>
          </p:cNvSpPr>
          <p:nvPr/>
        </p:nvSpPr>
        <p:spPr>
          <a:xfrm>
            <a:off x="914400" y="9429750"/>
            <a:ext cx="15811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0">
                <a:solidFill>
                  <a:srgbClr val="6E6E73"/>
                </a:solidFill>
              </a:defRPr>
            </a:pPr>
            <a:r>
              <a:t>Incident Tracker · AI tooling philosophy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B2E6D81-E74F-436B-805A-2F8FFBBE8CFA}"/>
              </a:ext>
            </a:extLst>
          </p:cNvPr>
          <p:cNvSpPr>
            <a:spLocks noGrp="1"/>
          </p:cNvSpPr>
          <p:nvPr/>
        </p:nvSpPr>
        <p:spPr>
          <a:xfrm>
            <a:off x="16954500" y="942975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69106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59279612-F2B8-448C-9582-3C4EBBBFF4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D1D1F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8E342D-2EB1-42F6-BCF9-1C06C60422EB}"/>
              </a:ext>
            </a:extLst>
          </p:cNvPr>
          <p:cNvSpPr>
            <a:spLocks noGrp="1"/>
          </p:cNvSpPr>
          <p:nvPr/>
        </p:nvSpPr>
        <p:spPr>
          <a:xfrm>
            <a:off x="914400" y="6667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>
                <a:solidFill>
                  <a:srgbClr val="A1A1A6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811D65-97F6-4F13-B59C-7D3B71AD71CF}"/>
              </a:ext>
            </a:extLst>
          </p:cNvPr>
          <p:cNvSpPr>
            <a:spLocks noGrp="1"/>
          </p:cNvSpPr>
          <p:nvPr/>
        </p:nvSpPr>
        <p:spPr>
          <a:xfrm>
            <a:off x="2952750" y="762000"/>
            <a:ext cx="11715750" cy="9525"/>
          </a:xfrm>
          <a:prstGeom prst="rect">
            <a:avLst/>
          </a:prstGeom>
          <a:solidFill>
            <a:srgbClr val="B8B8BE"/>
          </a:solidFill>
          <a:ln w="0">
            <a:solidFill>
              <a:srgbClr val="B8B8B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4FF11D-2E3B-429D-99F2-3869532AC317}"/>
              </a:ext>
            </a:extLst>
          </p:cNvPr>
          <p:cNvSpPr>
            <a:spLocks noGrp="1"/>
          </p:cNvSpPr>
          <p:nvPr/>
        </p:nvSpPr>
        <p:spPr>
          <a:xfrm>
            <a:off x="14897100" y="6667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A1A1A6"/>
                </a:solidFill>
              </a:defRPr>
            </a:pPr>
            <a:r>
              <a:t>PROMPT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3E035-98DA-4547-8532-962D10E46866}"/>
              </a:ext>
            </a:extLst>
          </p:cNvPr>
          <p:cNvSpPr>
            <a:spLocks noGrp="1"/>
          </p:cNvSpPr>
          <p:nvPr/>
        </p:nvSpPr>
        <p:spPr>
          <a:xfrm>
            <a:off x="914400" y="2819400"/>
            <a:ext cx="6457950" cy="7429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4800" b="1">
                <a:solidFill>
                  <a:srgbClr val="FF0A0A"/>
                </a:solidFill>
              </a:defRPr>
            </a:pPr>
            <a:r>
              <a:t>AI nie zwalnia z myślenia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5AF9B4-A473-443C-94FF-BE949314E1C1}"/>
              </a:ext>
            </a:extLst>
          </p:cNvPr>
          <p:cNvSpPr>
            <a:spLocks noGrp="1"/>
          </p:cNvSpPr>
          <p:nvPr/>
        </p:nvSpPr>
        <p:spPr>
          <a:xfrm>
            <a:off x="914400" y="3657600"/>
            <a:ext cx="6457950" cy="1428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4650" b="1">
                <a:solidFill>
                  <a:srgbClr val="F5F5F7"/>
                </a:solidFill>
              </a:defRPr>
            </a:pPr>
            <a:r>
              <a:t>AI egzekwuje ekspercki styl pracy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09EE81-8326-4437-86D6-5EBC85585359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1809750" cy="20574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0" b="1">
                <a:solidFill>
                  <a:srgbClr val="0071E3"/>
                </a:solidFill>
              </a:defRPr>
            </a:pPr>
            <a: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13F53B-4B1D-47BC-A2E2-0815889AAF70}"/>
              </a:ext>
            </a:extLst>
          </p:cNvPr>
          <p:cNvSpPr>
            <a:spLocks noGrp="1"/>
          </p:cNvSpPr>
          <p:nvPr/>
        </p:nvSpPr>
        <p:spPr>
          <a:xfrm>
            <a:off x="2971800" y="6705600"/>
            <a:ext cx="2857500" cy="762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550" b="1">
                <a:solidFill>
                  <a:srgbClr val="F5F5F7"/>
                </a:solidFill>
              </a:defRPr>
            </a:pPr>
            <a:r>
              <a:t>filary</a:t>
            </a:r>
          </a:p>
          <a:p>
            <a:pPr algn="l">
              <a:buNone/>
              <a:defRPr sz="2550" b="1">
                <a:solidFill>
                  <a:srgbClr val="F5F5F7"/>
                </a:solidFill>
              </a:defRPr>
            </a:pPr>
            <a:r>
              <a:t>incident trackera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5CE2826-080B-4481-8077-8FFF91B03623}"/>
              </a:ext>
            </a:extLst>
          </p:cNvPr>
          <p:cNvSpPr>
            <a:spLocks noGrp="1"/>
          </p:cNvSpPr>
          <p:nvPr/>
        </p:nvSpPr>
        <p:spPr>
          <a:xfrm>
            <a:off x="8077200" y="35814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921731-CD1B-4351-BF53-EEAFBF3E9284}"/>
              </a:ext>
            </a:extLst>
          </p:cNvPr>
          <p:cNvSpPr>
            <a:spLocks noGrp="1"/>
          </p:cNvSpPr>
          <p:nvPr/>
        </p:nvSpPr>
        <p:spPr>
          <a:xfrm>
            <a:off x="8305800" y="3562350"/>
            <a:ext cx="9067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F5F5F7"/>
                </a:solidFill>
              </a:defRPr>
            </a:pPr>
            <a:r>
              <a:t>PROMPT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6E6512-9ADD-4E5C-BFE9-AFC5D5410889}"/>
              </a:ext>
            </a:extLst>
          </p:cNvPr>
          <p:cNvSpPr>
            <a:spLocks noGrp="1"/>
          </p:cNvSpPr>
          <p:nvPr/>
        </p:nvSpPr>
        <p:spPr>
          <a:xfrm>
            <a:off x="8305800" y="3924300"/>
            <a:ext cx="9067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A1A1A6"/>
                </a:solidFill>
              </a:defRPr>
            </a:pPr>
            <a:r>
              <a:t>precyzyjnie zapisuje cel, kontekst i oczekiwany rezultat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E46960-FF70-42D9-B049-FDA720D3AD3B}"/>
              </a:ext>
            </a:extLst>
          </p:cNvPr>
          <p:cNvSpPr>
            <a:spLocks noGrp="1"/>
          </p:cNvSpPr>
          <p:nvPr/>
        </p:nvSpPr>
        <p:spPr>
          <a:xfrm>
            <a:off x="8058150" y="4276725"/>
            <a:ext cx="9315450" cy="9525"/>
          </a:xfrm>
          <a:prstGeom prst="rect">
            <a:avLst/>
          </a:prstGeom>
          <a:solidFill>
            <a:srgbClr val="66666A"/>
          </a:solidFill>
          <a:ln w="0">
            <a:solidFill>
              <a:srgbClr val="6666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C186C5C-59EB-421E-BFC4-605D0346EB49}"/>
              </a:ext>
            </a:extLst>
          </p:cNvPr>
          <p:cNvSpPr>
            <a:spLocks noGrp="1"/>
          </p:cNvSpPr>
          <p:nvPr/>
        </p:nvSpPr>
        <p:spPr>
          <a:xfrm>
            <a:off x="8077200" y="44196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D24BAD-02ED-4FE0-97E4-798CA432F25A}"/>
              </a:ext>
            </a:extLst>
          </p:cNvPr>
          <p:cNvSpPr>
            <a:spLocks noGrp="1"/>
          </p:cNvSpPr>
          <p:nvPr/>
        </p:nvSpPr>
        <p:spPr>
          <a:xfrm>
            <a:off x="8305800" y="4419600"/>
            <a:ext cx="9067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F5F5F7"/>
                </a:solidFill>
              </a:defRPr>
            </a:pPr>
            <a:r>
              <a:t>TOOLS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35424-B6FA-43B2-815E-0A6B0A327736}"/>
              </a:ext>
            </a:extLst>
          </p:cNvPr>
          <p:cNvSpPr>
            <a:spLocks noGrp="1"/>
          </p:cNvSpPr>
          <p:nvPr/>
        </p:nvSpPr>
        <p:spPr>
          <a:xfrm>
            <a:off x="8305800" y="4781550"/>
            <a:ext cx="9067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A1A1A6"/>
                </a:solidFill>
              </a:defRPr>
            </a:pPr>
            <a:r>
              <a:t>dostarczają kontrolowane źródła faktów, nie losowy zrzut danych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7E5FFDD-62CE-47F6-B6FB-B2EA7DB4C31A}"/>
              </a:ext>
            </a:extLst>
          </p:cNvPr>
          <p:cNvSpPr>
            <a:spLocks noGrp="1"/>
          </p:cNvSpPr>
          <p:nvPr/>
        </p:nvSpPr>
        <p:spPr>
          <a:xfrm>
            <a:off x="8058150" y="5143500"/>
            <a:ext cx="9315450" cy="9525"/>
          </a:xfrm>
          <a:prstGeom prst="rect">
            <a:avLst/>
          </a:prstGeom>
          <a:solidFill>
            <a:srgbClr val="66666A"/>
          </a:solidFill>
          <a:ln w="0">
            <a:solidFill>
              <a:srgbClr val="6666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504262F-0A1C-4B80-B55A-78CD51CD7971}"/>
              </a:ext>
            </a:extLst>
          </p:cNvPr>
          <p:cNvSpPr>
            <a:spLocks noGrp="1"/>
          </p:cNvSpPr>
          <p:nvPr/>
        </p:nvSpPr>
        <p:spPr>
          <a:xfrm>
            <a:off x="8077200" y="52959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7D7877-89DE-47EE-9BC5-870882AF1A30}"/>
              </a:ext>
            </a:extLst>
          </p:cNvPr>
          <p:cNvSpPr>
            <a:spLocks noGrp="1"/>
          </p:cNvSpPr>
          <p:nvPr/>
        </p:nvSpPr>
        <p:spPr>
          <a:xfrm>
            <a:off x="8305800" y="5276850"/>
            <a:ext cx="9067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F5F5F7"/>
                </a:solidFill>
              </a:defRPr>
            </a:pPr>
            <a:r>
              <a:t>SKILLS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B466AC-2B4D-440E-B653-48D84AC99FE1}"/>
              </a:ext>
            </a:extLst>
          </p:cNvPr>
          <p:cNvSpPr>
            <a:spLocks noGrp="1"/>
          </p:cNvSpPr>
          <p:nvPr/>
        </p:nvSpPr>
        <p:spPr>
          <a:xfrm>
            <a:off x="8305800" y="5638800"/>
            <a:ext cx="9067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A1A1A6"/>
                </a:solidFill>
              </a:defRPr>
            </a:pPr>
            <a:r>
              <a:t>prowadzą agenta przez ekspercki playbook analizy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057AD9-9685-462D-A2B2-0C457CA60BD0}"/>
              </a:ext>
            </a:extLst>
          </p:cNvPr>
          <p:cNvSpPr>
            <a:spLocks noGrp="1"/>
          </p:cNvSpPr>
          <p:nvPr/>
        </p:nvSpPr>
        <p:spPr>
          <a:xfrm>
            <a:off x="8058150" y="6000750"/>
            <a:ext cx="9315450" cy="9525"/>
          </a:xfrm>
          <a:prstGeom prst="rect">
            <a:avLst/>
          </a:prstGeom>
          <a:solidFill>
            <a:srgbClr val="66666A"/>
          </a:solidFill>
          <a:ln w="0">
            <a:solidFill>
              <a:srgbClr val="66666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107C656-0074-469D-8AA1-109E54733071}"/>
              </a:ext>
            </a:extLst>
          </p:cNvPr>
          <p:cNvSpPr>
            <a:spLocks noGrp="1"/>
          </p:cNvSpPr>
          <p:nvPr/>
        </p:nvSpPr>
        <p:spPr>
          <a:xfrm>
            <a:off x="8077200" y="6134100"/>
            <a:ext cx="76200" cy="4000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944E91-CD4C-4013-8872-9A411311569C}"/>
              </a:ext>
            </a:extLst>
          </p:cNvPr>
          <p:cNvSpPr>
            <a:spLocks noGrp="1"/>
          </p:cNvSpPr>
          <p:nvPr/>
        </p:nvSpPr>
        <p:spPr>
          <a:xfrm>
            <a:off x="8305800" y="6153150"/>
            <a:ext cx="9067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F5F5F7"/>
                </a:solidFill>
              </a:defRPr>
            </a:pPr>
            <a:r>
              <a:t>METRICS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96B257-BDB9-4C4A-830E-9A6FF6996379}"/>
              </a:ext>
            </a:extLst>
          </p:cNvPr>
          <p:cNvSpPr>
            <a:spLocks noGrp="1"/>
          </p:cNvSpPr>
          <p:nvPr/>
        </p:nvSpPr>
        <p:spPr>
          <a:xfrm>
            <a:off x="8305800" y="6496050"/>
            <a:ext cx="9067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A1A1A6"/>
                </a:solidFill>
              </a:defRPr>
            </a:pPr>
            <a:r>
              <a:t>pokazują koszt, ślady pracy, jakość użycia tooli i feedback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4A328B-FEFE-457F-9781-F62A3C5927D1}"/>
              </a:ext>
            </a:extLst>
          </p:cNvPr>
          <p:cNvSpPr>
            <a:spLocks noGrp="1"/>
          </p:cNvSpPr>
          <p:nvPr/>
        </p:nvSpPr>
        <p:spPr>
          <a:xfrm>
            <a:off x="914400" y="9429750"/>
            <a:ext cx="15811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0">
                <a:solidFill>
                  <a:srgbClr val="A1A1A6"/>
                </a:solidFill>
              </a:defRPr>
            </a:pPr>
            <a:r>
              <a:t>Incident Tracker · AI tooling philosophy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8B190D7-DF16-422D-BBA6-5427BFE6872B}"/>
              </a:ext>
            </a:extLst>
          </p:cNvPr>
          <p:cNvSpPr>
            <a:spLocks noGrp="1"/>
          </p:cNvSpPr>
          <p:nvPr/>
        </p:nvSpPr>
        <p:spPr>
          <a:xfrm>
            <a:off x="16954500" y="942975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A1A1A6"/>
                </a:solidFill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77238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284B012-C5E2-4E6B-98D8-76A8068818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242205B-B634-473D-8DD6-FC8D85FC402A}"/>
              </a:ext>
            </a:extLst>
          </p:cNvPr>
          <p:cNvSpPr>
            <a:spLocks noGrp="1"/>
          </p:cNvSpPr>
          <p:nvPr/>
        </p:nvSpPr>
        <p:spPr>
          <a:xfrm>
            <a:off x="914400" y="6667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4A3D9A-3CE0-4797-9A3D-DF09833C5580}"/>
              </a:ext>
            </a:extLst>
          </p:cNvPr>
          <p:cNvSpPr>
            <a:spLocks noGrp="1"/>
          </p:cNvSpPr>
          <p:nvPr/>
        </p:nvSpPr>
        <p:spPr>
          <a:xfrm>
            <a:off x="2952750" y="762000"/>
            <a:ext cx="11715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7BAAF0-CCD0-471F-84A2-A5A37E3DAE02}"/>
              </a:ext>
            </a:extLst>
          </p:cNvPr>
          <p:cNvSpPr>
            <a:spLocks noGrp="1"/>
          </p:cNvSpPr>
          <p:nvPr/>
        </p:nvSpPr>
        <p:spPr>
          <a:xfrm>
            <a:off x="14897100" y="6667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PROMPT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E43EFF-A9A2-4DCF-8A20-9CD847A245C1}"/>
              </a:ext>
            </a:extLst>
          </p:cNvPr>
          <p:cNvSpPr>
            <a:spLocks noGrp="1"/>
          </p:cNvSpPr>
          <p:nvPr/>
        </p:nvSpPr>
        <p:spPr>
          <a:xfrm>
            <a:off x="914400" y="1162050"/>
            <a:ext cx="16459200" cy="7810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100" b="1">
                <a:solidFill>
                  <a:srgbClr val="1D1D1F"/>
                </a:solidFill>
              </a:defRPr>
            </a:pPr>
            <a:r>
              <a:rPr dirty="0"/>
              <a:t>Prompt to </a:t>
            </a:r>
            <a:r>
              <a:rPr dirty="0" err="1">
                <a:solidFill>
                  <a:srgbClr val="FF0000"/>
                </a:solidFill>
              </a:rPr>
              <a:t>nie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triki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semantyczne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9E3ED5-8F36-4126-82FB-3E12E2225E99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16459200" cy="7810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100" b="1">
                <a:solidFill>
                  <a:srgbClr val="1D1D1F"/>
                </a:solidFill>
              </a:defRPr>
            </a:pPr>
            <a:r>
              <a:rPr dirty="0"/>
              <a:t>to</a:t>
            </a:r>
            <a:r>
              <a:rPr lang="pl-PL" dirty="0"/>
              <a:t> inicjalne </a:t>
            </a:r>
            <a:r>
              <a:rPr lang="pl-PL" dirty="0">
                <a:solidFill>
                  <a:srgbClr val="FF0000"/>
                </a:solidFill>
              </a:rPr>
              <a:t>polecenie specyficzne dla </a:t>
            </a:r>
            <a:r>
              <a:rPr lang="pl-PL" dirty="0" err="1">
                <a:solidFill>
                  <a:srgbClr val="FF0000"/>
                </a:solidFill>
              </a:rPr>
              <a:t>probelmu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D232C0-BB95-4376-8B76-75619325CFD5}"/>
              </a:ext>
            </a:extLst>
          </p:cNvPr>
          <p:cNvSpPr>
            <a:spLocks noGrp="1"/>
          </p:cNvSpPr>
          <p:nvPr/>
        </p:nvSpPr>
        <p:spPr>
          <a:xfrm>
            <a:off x="3813244" y="4444324"/>
            <a:ext cx="2509736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725" b="1">
                <a:solidFill>
                  <a:srgbClr val="0071E3"/>
                </a:solidFill>
              </a:defRPr>
            </a:pPr>
            <a: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69033D-B117-4C61-9ACC-8EE522DEB483}"/>
              </a:ext>
            </a:extLst>
          </p:cNvPr>
          <p:cNvSpPr>
            <a:spLocks noGrp="1"/>
          </p:cNvSpPr>
          <p:nvPr/>
        </p:nvSpPr>
        <p:spPr>
          <a:xfrm>
            <a:off x="3813244" y="4901524"/>
            <a:ext cx="2509736" cy="571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3750" b="1">
                <a:solidFill>
                  <a:srgbClr val="1D1D1F"/>
                </a:solidFill>
              </a:defRPr>
            </a:pPr>
            <a:r>
              <a:rPr dirty="0"/>
              <a:t>Fakty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82FC8-48AE-4026-B50B-E93C98264DE4}"/>
              </a:ext>
            </a:extLst>
          </p:cNvPr>
          <p:cNvSpPr>
            <a:spLocks noGrp="1"/>
          </p:cNvSpPr>
          <p:nvPr/>
        </p:nvSpPr>
        <p:spPr>
          <a:xfrm>
            <a:off x="3813244" y="5663524"/>
            <a:ext cx="1257300" cy="57150"/>
          </a:xfrm>
          <a:prstGeom prst="rect">
            <a:avLst/>
          </a:prstGeom>
          <a:solidFill>
            <a:srgbClr val="0071E3"/>
          </a:solidFill>
          <a:ln w="0">
            <a:solidFill>
              <a:srgbClr val="0071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447479-B535-49B3-BD73-5C74E9D6515E}"/>
              </a:ext>
            </a:extLst>
          </p:cNvPr>
          <p:cNvSpPr>
            <a:spLocks noGrp="1"/>
          </p:cNvSpPr>
          <p:nvPr/>
        </p:nvSpPr>
        <p:spPr>
          <a:xfrm>
            <a:off x="3813244" y="5911174"/>
            <a:ext cx="2509736" cy="1143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dirty="0" err="1"/>
              <a:t>wykryte</a:t>
            </a:r>
            <a:r>
              <a:rPr dirty="0"/>
              <a:t> </a:t>
            </a:r>
            <a:r>
              <a:rPr dirty="0" err="1"/>
              <a:t>środowisko</a:t>
            </a:r>
            <a:endParaRPr dirty="0"/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dirty="0" err="1"/>
              <a:t>daty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komponenty</a:t>
            </a:r>
            <a:endParaRPr dirty="0"/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dirty="0" err="1"/>
              <a:t>implementacje</a:t>
            </a:r>
            <a:r>
              <a:rPr dirty="0"/>
              <a:t> </a:t>
            </a:r>
            <a:r>
              <a:rPr dirty="0" err="1"/>
              <a:t>klas</a:t>
            </a:r>
            <a:endParaRPr dirty="0"/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dirty="0"/>
              <a:t>stan runtime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2EE43B-023B-43C8-81E0-BFCA408FC04F}"/>
              </a:ext>
            </a:extLst>
          </p:cNvPr>
          <p:cNvSpPr>
            <a:spLocks noGrp="1"/>
          </p:cNvSpPr>
          <p:nvPr/>
        </p:nvSpPr>
        <p:spPr>
          <a:xfrm>
            <a:off x="7217924" y="4444324"/>
            <a:ext cx="2412460" cy="308853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725" b="1">
                <a:solidFill>
                  <a:srgbClr val="0071E3"/>
                </a:solidFill>
              </a:defRPr>
            </a:pPr>
            <a:r>
              <a:rPr dirty="0"/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0DA933-182D-4D8E-AB12-16D8D706B5EB}"/>
              </a:ext>
            </a:extLst>
          </p:cNvPr>
          <p:cNvSpPr>
            <a:spLocks noGrp="1"/>
          </p:cNvSpPr>
          <p:nvPr/>
        </p:nvSpPr>
        <p:spPr>
          <a:xfrm>
            <a:off x="7217924" y="4901525"/>
            <a:ext cx="4876800" cy="571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3750" b="1">
                <a:solidFill>
                  <a:srgbClr val="1D1D1F"/>
                </a:solidFill>
              </a:defRPr>
            </a:pPr>
            <a:r>
              <a:rPr dirty="0" err="1"/>
              <a:t>Powiązania</a:t>
            </a:r>
            <a:endParaRPr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435AAD-CE16-432F-B744-9D9D02F05D22}"/>
              </a:ext>
            </a:extLst>
          </p:cNvPr>
          <p:cNvSpPr>
            <a:spLocks noGrp="1"/>
          </p:cNvSpPr>
          <p:nvPr/>
        </p:nvSpPr>
        <p:spPr>
          <a:xfrm>
            <a:off x="7217924" y="5663525"/>
            <a:ext cx="1257300" cy="57150"/>
          </a:xfrm>
          <a:prstGeom prst="rect">
            <a:avLst/>
          </a:prstGeom>
          <a:solidFill>
            <a:srgbClr val="0071E3"/>
          </a:solidFill>
          <a:ln w="0">
            <a:solidFill>
              <a:srgbClr val="0071E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3A62C1-9AB9-4CB5-8404-B477CD052311}"/>
              </a:ext>
            </a:extLst>
          </p:cNvPr>
          <p:cNvSpPr>
            <a:spLocks noGrp="1"/>
          </p:cNvSpPr>
          <p:nvPr/>
        </p:nvSpPr>
        <p:spPr>
          <a:xfrm>
            <a:off x="7217924" y="5911175"/>
            <a:ext cx="4876800" cy="1143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t>bounded context</a:t>
            </a:r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t>system i repozytorium</a:t>
            </a:r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t>zespół</a:t>
            </a:r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t>ownership i handoff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03D1E4-8DA6-48C2-84EB-16A28C9ACEA2}"/>
              </a:ext>
            </a:extLst>
          </p:cNvPr>
          <p:cNvSpPr>
            <a:spLocks noGrp="1"/>
          </p:cNvSpPr>
          <p:nvPr/>
        </p:nvSpPr>
        <p:spPr>
          <a:xfrm>
            <a:off x="10674488" y="4852076"/>
            <a:ext cx="3138789" cy="571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3750" b="1">
                <a:solidFill>
                  <a:srgbClr val="1D1D1F"/>
                </a:solidFill>
              </a:defRPr>
            </a:pPr>
            <a:r>
              <a:t>Interpretacja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C6A310-F1CA-49BB-B007-46F2C2791346}"/>
              </a:ext>
            </a:extLst>
          </p:cNvPr>
          <p:cNvSpPr>
            <a:spLocks noGrp="1"/>
          </p:cNvSpPr>
          <p:nvPr/>
        </p:nvSpPr>
        <p:spPr>
          <a:xfrm>
            <a:off x="10674488" y="5861726"/>
            <a:ext cx="3138789" cy="1428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dirty="0" err="1"/>
              <a:t>kategoryzacja</a:t>
            </a:r>
            <a:r>
              <a:rPr dirty="0"/>
              <a:t> </a:t>
            </a:r>
            <a:r>
              <a:rPr dirty="0" err="1"/>
              <a:t>błędu</a:t>
            </a:r>
            <a:endParaRPr dirty="0"/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dirty="0" err="1"/>
              <a:t>wykryte</a:t>
            </a:r>
            <a:r>
              <a:rPr dirty="0"/>
              <a:t> </a:t>
            </a:r>
            <a:r>
              <a:rPr dirty="0" err="1"/>
              <a:t>luki</a:t>
            </a:r>
            <a:endParaRPr dirty="0"/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dirty="0" err="1"/>
              <a:t>dobór</a:t>
            </a:r>
            <a:r>
              <a:rPr dirty="0"/>
              <a:t> </a:t>
            </a:r>
            <a:r>
              <a:rPr dirty="0" err="1"/>
              <a:t>tooli</a:t>
            </a:r>
            <a:endParaRPr dirty="0"/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dirty="0"/>
              <a:t>forma </a:t>
            </a:r>
            <a:r>
              <a:rPr dirty="0" err="1"/>
              <a:t>odpowiedzi</a:t>
            </a:r>
            <a:endParaRPr lang="pl-PL" dirty="0"/>
          </a:p>
          <a:p>
            <a:pPr algn="l">
              <a:buNone/>
              <a:defRPr sz="1875" b="0">
                <a:solidFill>
                  <a:srgbClr val="1D1D1F"/>
                </a:solidFill>
              </a:defRPr>
            </a:pPr>
            <a:r>
              <a:rPr lang="pl-PL" dirty="0"/>
              <a:t>wysokopoziomowy rezultat</a:t>
            </a:r>
            <a:endParaRPr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8A68A3-01FF-41FB-860F-058E012BDE56}"/>
              </a:ext>
            </a:extLst>
          </p:cNvPr>
          <p:cNvSpPr>
            <a:spLocks noGrp="1"/>
          </p:cNvSpPr>
          <p:nvPr/>
        </p:nvSpPr>
        <p:spPr>
          <a:xfrm>
            <a:off x="914400" y="9429750"/>
            <a:ext cx="15811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0">
                <a:solidFill>
                  <a:srgbClr val="6E6E73"/>
                </a:solidFill>
              </a:defRPr>
            </a:pPr>
            <a:r>
              <a:t>Incident Tracker · AI tooling philosophy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1764F0-F5CE-4E79-934F-ED548F33A28E}"/>
              </a:ext>
            </a:extLst>
          </p:cNvPr>
          <p:cNvSpPr>
            <a:spLocks noGrp="1"/>
          </p:cNvSpPr>
          <p:nvPr/>
        </p:nvSpPr>
        <p:spPr>
          <a:xfrm>
            <a:off x="16954500" y="942975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07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0A49372-DF96-3DEB-E39B-9D2974D7F829}"/>
              </a:ext>
            </a:extLst>
          </p:cNvPr>
          <p:cNvSpPr>
            <a:spLocks noGrp="1"/>
          </p:cNvSpPr>
          <p:nvPr/>
        </p:nvSpPr>
        <p:spPr>
          <a:xfrm>
            <a:off x="10674488" y="4444324"/>
            <a:ext cx="2412460" cy="308853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725" b="1">
                <a:solidFill>
                  <a:srgbClr val="0071E3"/>
                </a:solidFill>
              </a:defRPr>
            </a:pPr>
            <a:r>
              <a:rPr dirty="0"/>
              <a:t>0</a:t>
            </a:r>
            <a:r>
              <a:rPr lang="pl-PL" dirty="0"/>
              <a:t>3</a:t>
            </a:r>
            <a:endParaRPr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4AE50DF-98D4-CEFD-96A1-1CDD18AA9DC7}"/>
              </a:ext>
            </a:extLst>
          </p:cNvPr>
          <p:cNvSpPr>
            <a:spLocks noGrp="1"/>
          </p:cNvSpPr>
          <p:nvPr/>
        </p:nvSpPr>
        <p:spPr>
          <a:xfrm>
            <a:off x="10674488" y="5663525"/>
            <a:ext cx="1257300" cy="57150"/>
          </a:xfrm>
          <a:prstGeom prst="rect">
            <a:avLst/>
          </a:prstGeom>
          <a:solidFill>
            <a:srgbClr val="0071E3"/>
          </a:solidFill>
          <a:ln w="0">
            <a:solidFill>
              <a:srgbClr val="0071E3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7428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B997A37-188C-4497-991A-E68EF6A0CB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78C32A-8E06-4E81-A659-9B83A76ABA1F}"/>
              </a:ext>
            </a:extLst>
          </p:cNvPr>
          <p:cNvSpPr>
            <a:spLocks noGrp="1"/>
          </p:cNvSpPr>
          <p:nvPr/>
        </p:nvSpPr>
        <p:spPr>
          <a:xfrm>
            <a:off x="914400" y="6096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D4E10-A931-4B63-9316-218B78F785C6}"/>
              </a:ext>
            </a:extLst>
          </p:cNvPr>
          <p:cNvSpPr>
            <a:spLocks noGrp="1"/>
          </p:cNvSpPr>
          <p:nvPr/>
        </p:nvSpPr>
        <p:spPr>
          <a:xfrm>
            <a:off x="3143250" y="704850"/>
            <a:ext cx="11334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A9EF35-B6F9-4B68-A136-811929476203}"/>
              </a:ext>
            </a:extLst>
          </p:cNvPr>
          <p:cNvSpPr>
            <a:spLocks noGrp="1"/>
          </p:cNvSpPr>
          <p:nvPr/>
        </p:nvSpPr>
        <p:spPr>
          <a:xfrm>
            <a:off x="14706600" y="6096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AI TOOLS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1891FC-3B7E-4851-89EB-2E7FD6AB8FC7}"/>
              </a:ext>
            </a:extLst>
          </p:cNvPr>
          <p:cNvSpPr>
            <a:spLocks noGrp="1"/>
          </p:cNvSpPr>
          <p:nvPr/>
        </p:nvSpPr>
        <p:spPr>
          <a:xfrm>
            <a:off x="914399" y="1066799"/>
            <a:ext cx="16145301" cy="1040861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250" b="1" i="0">
                <a:solidFill>
                  <a:srgbClr val="1D1D1F"/>
                </a:solidFill>
              </a:defRPr>
            </a:pPr>
            <a:r>
              <a:rPr dirty="0">
                <a:solidFill>
                  <a:srgbClr val="FF0000"/>
                </a:solidFill>
              </a:rPr>
              <a:t>Toole</a:t>
            </a:r>
            <a:r>
              <a:rPr dirty="0"/>
              <a:t> </a:t>
            </a:r>
            <a:r>
              <a:rPr dirty="0" err="1"/>
              <a:t>nie</a:t>
            </a:r>
            <a:r>
              <a:rPr dirty="0"/>
              <a:t> </a:t>
            </a:r>
            <a:r>
              <a:rPr dirty="0" err="1"/>
              <a:t>powinny</a:t>
            </a:r>
            <a:r>
              <a:rPr dirty="0"/>
              <a:t> </a:t>
            </a:r>
            <a:r>
              <a:rPr dirty="0" err="1"/>
              <a:t>być</a:t>
            </a:r>
            <a:r>
              <a:rPr dirty="0"/>
              <a:t> </a:t>
            </a:r>
            <a:r>
              <a:rPr dirty="0" err="1"/>
              <a:t>adapterem</a:t>
            </a:r>
            <a:r>
              <a:rPr lang="pl-PL" dirty="0"/>
              <a:t> tylko </a:t>
            </a:r>
            <a:r>
              <a:rPr lang="pl-PL" dirty="0">
                <a:solidFill>
                  <a:srgbClr val="FF0000"/>
                </a:solidFill>
              </a:rPr>
              <a:t>fasadą</a:t>
            </a:r>
            <a:r>
              <a:rPr lang="pl-PL" dirty="0"/>
              <a:t>.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54A98B-BC38-4C03-8479-9EA8ACBFFD9A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5905500" cy="24003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0" b="1" i="0">
                <a:solidFill>
                  <a:srgbClr val="0071E3"/>
                </a:solidFill>
              </a:defRPr>
            </a:pPr>
            <a:r>
              <a:t>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8A2B8B-0454-4340-9E52-759592E5AE51}"/>
              </a:ext>
            </a:extLst>
          </p:cNvPr>
          <p:cNvSpPr>
            <a:spLocks noGrp="1"/>
          </p:cNvSpPr>
          <p:nvPr/>
        </p:nvSpPr>
        <p:spPr>
          <a:xfrm>
            <a:off x="914400" y="7219950"/>
            <a:ext cx="3067050" cy="7810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550" b="1" i="0">
                <a:solidFill>
                  <a:srgbClr val="1D1D1F"/>
                </a:solidFill>
              </a:defRPr>
            </a:pPr>
            <a:r>
              <a:t>kontrolowanych źródeł kontekstu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60C0F12-A9C8-4325-9A38-C51A9509220F}"/>
              </a:ext>
            </a:extLst>
          </p:cNvPr>
          <p:cNvSpPr>
            <a:spLocks noGrp="1"/>
          </p:cNvSpPr>
          <p:nvPr/>
        </p:nvSpPr>
        <p:spPr>
          <a:xfrm>
            <a:off x="7543800" y="4191000"/>
            <a:ext cx="66675" cy="3048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BFB720A-8DBB-4A07-BE0D-71DCE296DA13}"/>
              </a:ext>
            </a:extLst>
          </p:cNvPr>
          <p:cNvSpPr>
            <a:spLocks noGrp="1"/>
          </p:cNvSpPr>
          <p:nvPr/>
        </p:nvSpPr>
        <p:spPr>
          <a:xfrm>
            <a:off x="7734300" y="4171950"/>
            <a:ext cx="96393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 i="0">
                <a:solidFill>
                  <a:srgbClr val="1D1D1F"/>
                </a:solidFill>
              </a:defRPr>
            </a:pPr>
            <a:r>
              <a:t>Logi z Elasticsearch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F62693-7C34-4CA4-B85A-416E4A8D12EF}"/>
              </a:ext>
            </a:extLst>
          </p:cNvPr>
          <p:cNvSpPr>
            <a:spLocks noGrp="1"/>
          </p:cNvSpPr>
          <p:nvPr/>
        </p:nvSpPr>
        <p:spPr>
          <a:xfrm>
            <a:off x="7543800" y="4572000"/>
            <a:ext cx="98298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0" i="0">
                <a:solidFill>
                  <a:srgbClr val="6E6E73"/>
                </a:solidFill>
              </a:defRPr>
            </a:pPr>
            <a:r>
              <a:t>co wydarzyło się w korelowanym flow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F33B0FD-6756-4F15-983E-0776BDC86C99}"/>
              </a:ext>
            </a:extLst>
          </p:cNvPr>
          <p:cNvSpPr>
            <a:spLocks noGrp="1"/>
          </p:cNvSpPr>
          <p:nvPr/>
        </p:nvSpPr>
        <p:spPr>
          <a:xfrm>
            <a:off x="7543800" y="4886325"/>
            <a:ext cx="982980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5E5099-3DCB-4BA9-99CF-11D6A724EB27}"/>
              </a:ext>
            </a:extLst>
          </p:cNvPr>
          <p:cNvSpPr>
            <a:spLocks noGrp="1"/>
          </p:cNvSpPr>
          <p:nvPr/>
        </p:nvSpPr>
        <p:spPr>
          <a:xfrm>
            <a:off x="7543800" y="5067300"/>
            <a:ext cx="66675" cy="3048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71C1E3-2420-4BED-A0F4-6C809814C4AB}"/>
              </a:ext>
            </a:extLst>
          </p:cNvPr>
          <p:cNvSpPr>
            <a:spLocks noGrp="1"/>
          </p:cNvSpPr>
          <p:nvPr/>
        </p:nvSpPr>
        <p:spPr>
          <a:xfrm>
            <a:off x="7734300" y="5067300"/>
            <a:ext cx="96393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 i="0">
                <a:solidFill>
                  <a:srgbClr val="1D1D1F"/>
                </a:solidFill>
              </a:defRPr>
            </a:pPr>
            <a:r>
              <a:t>Metryki z Dynatrace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93A73-9D32-49A1-9A83-67D3CC3C22AC}"/>
              </a:ext>
            </a:extLst>
          </p:cNvPr>
          <p:cNvSpPr>
            <a:spLocks noGrp="1"/>
          </p:cNvSpPr>
          <p:nvPr/>
        </p:nvSpPr>
        <p:spPr>
          <a:xfrm>
            <a:off x="7543800" y="5467350"/>
            <a:ext cx="98298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0" i="0">
                <a:solidFill>
                  <a:srgbClr val="6E6E73"/>
                </a:solidFill>
              </a:defRPr>
            </a:pPr>
            <a:r>
              <a:t>czy system potwierdza problem albo degradację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B655A9-EE60-4CEE-A331-3945B06B6342}"/>
              </a:ext>
            </a:extLst>
          </p:cNvPr>
          <p:cNvSpPr>
            <a:spLocks noGrp="1"/>
          </p:cNvSpPr>
          <p:nvPr/>
        </p:nvSpPr>
        <p:spPr>
          <a:xfrm>
            <a:off x="7543800" y="5781675"/>
            <a:ext cx="982980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06F3405-8550-4953-A833-9B126E917D8B}"/>
              </a:ext>
            </a:extLst>
          </p:cNvPr>
          <p:cNvSpPr>
            <a:spLocks noGrp="1"/>
          </p:cNvSpPr>
          <p:nvPr/>
        </p:nvSpPr>
        <p:spPr>
          <a:xfrm>
            <a:off x="7543800" y="5981700"/>
            <a:ext cx="66675" cy="3048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27E3A2-122E-4158-8384-F63AD78E112D}"/>
              </a:ext>
            </a:extLst>
          </p:cNvPr>
          <p:cNvSpPr>
            <a:spLocks noGrp="1"/>
          </p:cNvSpPr>
          <p:nvPr/>
        </p:nvSpPr>
        <p:spPr>
          <a:xfrm>
            <a:off x="7734300" y="5962650"/>
            <a:ext cx="96393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 i="0">
                <a:solidFill>
                  <a:srgbClr val="1D1D1F"/>
                </a:solidFill>
              </a:defRPr>
            </a:pPr>
            <a:r>
              <a:t>Kod z GitLaba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03F99C8-62DC-4915-99E0-50365284A936}"/>
              </a:ext>
            </a:extLst>
          </p:cNvPr>
          <p:cNvSpPr>
            <a:spLocks noGrp="1"/>
          </p:cNvSpPr>
          <p:nvPr/>
        </p:nvSpPr>
        <p:spPr>
          <a:xfrm>
            <a:off x="7543800" y="6362700"/>
            <a:ext cx="98298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0" i="0">
                <a:solidFill>
                  <a:srgbClr val="6E6E73"/>
                </a:solidFill>
              </a:defRPr>
            </a:pPr>
            <a:r>
              <a:t>gdzie rozumieć flow lub miejsce naprawy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1255EE-F8BB-41D3-8CEC-9D4617593097}"/>
              </a:ext>
            </a:extLst>
          </p:cNvPr>
          <p:cNvSpPr>
            <a:spLocks noGrp="1"/>
          </p:cNvSpPr>
          <p:nvPr/>
        </p:nvSpPr>
        <p:spPr>
          <a:xfrm>
            <a:off x="7543800" y="6667500"/>
            <a:ext cx="982980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40DF91D-D24D-4D22-8BDE-BFF36EAB7A43}"/>
              </a:ext>
            </a:extLst>
          </p:cNvPr>
          <p:cNvSpPr>
            <a:spLocks noGrp="1"/>
          </p:cNvSpPr>
          <p:nvPr/>
        </p:nvSpPr>
        <p:spPr>
          <a:xfrm>
            <a:off x="7543800" y="6858000"/>
            <a:ext cx="66675" cy="3048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2F80A0-6EDC-4CCF-A80B-B7D6B8E30E84}"/>
              </a:ext>
            </a:extLst>
          </p:cNvPr>
          <p:cNvSpPr>
            <a:spLocks noGrp="1"/>
          </p:cNvSpPr>
          <p:nvPr/>
        </p:nvSpPr>
        <p:spPr>
          <a:xfrm>
            <a:off x="7734300" y="6858000"/>
            <a:ext cx="96393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 i="0">
                <a:solidFill>
                  <a:srgbClr val="1D1D1F"/>
                </a:solidFill>
              </a:defRPr>
            </a:pPr>
            <a:r>
              <a:t>Dane z DB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B8EE7E-9F83-4E68-952A-2AA108077E81}"/>
              </a:ext>
            </a:extLst>
          </p:cNvPr>
          <p:cNvSpPr>
            <a:spLocks noGrp="1"/>
          </p:cNvSpPr>
          <p:nvPr/>
        </p:nvSpPr>
        <p:spPr>
          <a:xfrm>
            <a:off x="7543800" y="7239000"/>
            <a:ext cx="98298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0" i="0">
                <a:solidFill>
                  <a:srgbClr val="6E6E73"/>
                </a:solidFill>
              </a:defRPr>
            </a:pPr>
            <a:r>
              <a:t>czy hipotezę danych da się potwierdzić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334134-6E61-44D2-A9DD-7313E6DCBF5B}"/>
              </a:ext>
            </a:extLst>
          </p:cNvPr>
          <p:cNvSpPr>
            <a:spLocks noGrp="1"/>
          </p:cNvSpPr>
          <p:nvPr/>
        </p:nvSpPr>
        <p:spPr>
          <a:xfrm>
            <a:off x="7543800" y="7562850"/>
            <a:ext cx="982980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DD4BB1-C166-4E0F-B29F-C26B77748EF8}"/>
              </a:ext>
            </a:extLst>
          </p:cNvPr>
          <p:cNvSpPr>
            <a:spLocks noGrp="1"/>
          </p:cNvSpPr>
          <p:nvPr/>
        </p:nvSpPr>
        <p:spPr>
          <a:xfrm>
            <a:off x="7734300" y="7753350"/>
            <a:ext cx="9639300" cy="3048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 i="0">
                <a:solidFill>
                  <a:srgbClr val="1D1D1F"/>
                </a:solidFill>
              </a:defRPr>
            </a:pPr>
            <a:r>
              <a:t>Operational context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EC1231-1B4A-4704-B430-F6A388DBF17C}"/>
              </a:ext>
            </a:extLst>
          </p:cNvPr>
          <p:cNvSpPr>
            <a:spLocks noGrp="1"/>
          </p:cNvSpPr>
          <p:nvPr/>
        </p:nvSpPr>
        <p:spPr>
          <a:xfrm>
            <a:off x="7543800" y="8134350"/>
            <a:ext cx="982980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0" i="0">
                <a:solidFill>
                  <a:srgbClr val="6E6E73"/>
                </a:solidFill>
              </a:defRPr>
            </a:pPr>
            <a:r>
              <a:t>Jak powiązać system, proces, zespół i handoff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9B9F99-FA22-4A3B-A10E-F20425CB34FE}"/>
              </a:ext>
            </a:extLst>
          </p:cNvPr>
          <p:cNvSpPr>
            <a:spLocks noGrp="1"/>
          </p:cNvSpPr>
          <p:nvPr/>
        </p:nvSpPr>
        <p:spPr>
          <a:xfrm>
            <a:off x="7543800" y="8458200"/>
            <a:ext cx="982980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8A1DB4-7239-4226-B651-6D80888578A3}"/>
              </a:ext>
            </a:extLst>
          </p:cNvPr>
          <p:cNvSpPr>
            <a:spLocks noGrp="1"/>
          </p:cNvSpPr>
          <p:nvPr/>
        </p:nvSpPr>
        <p:spPr>
          <a:xfrm>
            <a:off x="16954500" y="948690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08</a:t>
            </a:r>
          </a:p>
        </p:txBody>
      </p:sp>
      <p:sp>
        <p:nvSpPr>
          <p:cNvPr id="47" name="Rectangle: Rounded Corners 20">
            <a:extLst>
              <a:ext uri="{FF2B5EF4-FFF2-40B4-BE49-F238E27FC236}">
                <a16:creationId xmlns:a16="http://schemas.microsoft.com/office/drawing/2014/main" id="{377FF622-41D4-3238-0FFE-EE10ADD0C9E9}"/>
              </a:ext>
            </a:extLst>
          </p:cNvPr>
          <p:cNvSpPr>
            <a:spLocks noGrp="1"/>
          </p:cNvSpPr>
          <p:nvPr/>
        </p:nvSpPr>
        <p:spPr>
          <a:xfrm>
            <a:off x="7543800" y="7753350"/>
            <a:ext cx="66675" cy="3048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CA1FF09-D482-DF50-3966-E80C9BD075EB}"/>
              </a:ext>
            </a:extLst>
          </p:cNvPr>
          <p:cNvSpPr>
            <a:spLocks noGrp="1"/>
          </p:cNvSpPr>
          <p:nvPr/>
        </p:nvSpPr>
        <p:spPr>
          <a:xfrm>
            <a:off x="914399" y="1960022"/>
            <a:ext cx="15298366" cy="6000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0">
                <a:solidFill>
                  <a:srgbClr val="6E6E73"/>
                </a:solidFill>
              </a:defRPr>
            </a:pPr>
            <a:r>
              <a:rPr lang="pl-PL" dirty="0" err="1"/>
              <a:t>Toole</a:t>
            </a:r>
            <a:r>
              <a:rPr lang="pl-PL" dirty="0"/>
              <a:t> nie powinny być adapterem do API. Najlepiej działają, gdy zamykają logikę deterministyczną swojego kontekstu.</a:t>
            </a:r>
          </a:p>
        </p:txBody>
      </p:sp>
    </p:spTree>
    <p:extLst>
      <p:ext uri="{BB962C8B-B14F-4D97-AF65-F5344CB8AC3E}">
        <p14:creationId xmlns:p14="http://schemas.microsoft.com/office/powerpoint/2010/main" val="1538203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30">
            <a:extLst>
              <a:ext uri="{FF2B5EF4-FFF2-40B4-BE49-F238E27FC236}">
                <a16:creationId xmlns:a16="http://schemas.microsoft.com/office/drawing/2014/main" id="{99786A27-3079-B7BA-1BB3-1AC643C2A9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F11E32-7EE9-7CA5-3C54-B22B27080CC8}"/>
              </a:ext>
            </a:extLst>
          </p:cNvPr>
          <p:cNvSpPr>
            <a:spLocks noGrp="1"/>
          </p:cNvSpPr>
          <p:nvPr/>
        </p:nvSpPr>
        <p:spPr>
          <a:xfrm>
            <a:off x="914400" y="1066800"/>
            <a:ext cx="13792200" cy="7429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4800" b="1" i="0">
                <a:solidFill>
                  <a:srgbClr val="FFFFFF"/>
                </a:solidFill>
              </a:defRPr>
            </a:pPr>
            <a:r>
              <a:rPr>
                <a:solidFill>
                  <a:srgbClr val="FF0000"/>
                </a:solidFill>
              </a:rPr>
              <a:t>Skille to algorytm </a:t>
            </a: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stylu pracy eksperta dla agenta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8FB31A-3415-C7BB-D8C1-F4E4CC7F5A3B}"/>
              </a:ext>
            </a:extLst>
          </p:cNvPr>
          <p:cNvSpPr>
            <a:spLocks noGrp="1"/>
          </p:cNvSpPr>
          <p:nvPr/>
        </p:nvSpPr>
        <p:spPr>
          <a:xfrm>
            <a:off x="914400" y="1952625"/>
            <a:ext cx="11068334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250" b="0" i="0">
                <a:solidFill>
                  <a:srgbClr val="A1A1A6"/>
                </a:solidFill>
              </a:defRPr>
            </a:pPr>
            <a:r>
              <a:rPr>
                <a:solidFill>
                  <a:schemeClr val="tx1">
                    <a:lumMod val="95000"/>
                    <a:lumOff val="5000"/>
                  </a:schemeClr>
                </a:solidFill>
              </a:rPr>
              <a:t>Orkiestrator prowadzi. Diagnostyka doczytuje. Wynikowe skille scalają odpowiedź.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02F9DB-9C11-8C07-0FCE-28134CFC1C5A}"/>
              </a:ext>
            </a:extLst>
          </p:cNvPr>
          <p:cNvSpPr>
            <a:spLocks noGrp="1"/>
          </p:cNvSpPr>
          <p:nvPr/>
        </p:nvSpPr>
        <p:spPr>
          <a:xfrm>
            <a:off x="914400" y="5086350"/>
            <a:ext cx="73152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 i="0">
                <a:solidFill>
                  <a:srgbClr val="64D2FF"/>
                </a:solidFill>
              </a:defRPr>
            </a:pPr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9BD294-69F2-620B-81C9-561C19AED40A}"/>
              </a:ext>
            </a:extLst>
          </p:cNvPr>
          <p:cNvSpPr>
            <a:spLocks noGrp="1"/>
          </p:cNvSpPr>
          <p:nvPr/>
        </p:nvSpPr>
        <p:spPr>
          <a:xfrm>
            <a:off x="914400" y="5581650"/>
            <a:ext cx="6248400" cy="11049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3600" b="1" i="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958FFA-CD2C-763C-E2AF-8C6A49FC2495}"/>
              </a:ext>
            </a:extLst>
          </p:cNvPr>
          <p:cNvSpPr>
            <a:spLocks noGrp="1"/>
          </p:cNvSpPr>
          <p:nvPr/>
        </p:nvSpPr>
        <p:spPr>
          <a:xfrm>
            <a:off x="914400" y="9486900"/>
            <a:ext cx="158496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200" b="0" i="0">
                <a:solidFill>
                  <a:srgbClr val="86868B"/>
                </a:solidFill>
              </a:defRPr>
            </a:pPr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BAE1A44-FC61-5F35-343F-58AB3DB886B6}"/>
              </a:ext>
            </a:extLst>
          </p:cNvPr>
          <p:cNvSpPr>
            <a:spLocks noGrp="1"/>
          </p:cNvSpPr>
          <p:nvPr/>
        </p:nvSpPr>
        <p:spPr>
          <a:xfrm>
            <a:off x="16954500" y="948690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86868B"/>
                </a:solidFill>
              </a:defRPr>
            </a:pPr>
            <a:r>
              <a:t>09</a:t>
            </a:r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4A9F9838-DB90-F248-341E-E32C5BD95377}"/>
              </a:ext>
            </a:extLst>
          </p:cNvPr>
          <p:cNvSpPr>
            <a:spLocks noGrp="1"/>
          </p:cNvSpPr>
          <p:nvPr/>
        </p:nvSpPr>
        <p:spPr>
          <a:xfrm>
            <a:off x="914400" y="609600"/>
            <a:ext cx="20002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29" name="Rectangle 2">
            <a:extLst>
              <a:ext uri="{FF2B5EF4-FFF2-40B4-BE49-F238E27FC236}">
                <a16:creationId xmlns:a16="http://schemas.microsoft.com/office/drawing/2014/main" id="{3EB01CE2-B261-E5F1-D11D-1A29C707AC3A}"/>
              </a:ext>
            </a:extLst>
          </p:cNvPr>
          <p:cNvSpPr>
            <a:spLocks noGrp="1"/>
          </p:cNvSpPr>
          <p:nvPr/>
        </p:nvSpPr>
        <p:spPr>
          <a:xfrm>
            <a:off x="3143250" y="704850"/>
            <a:ext cx="11334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Rectangle 3">
            <a:extLst>
              <a:ext uri="{FF2B5EF4-FFF2-40B4-BE49-F238E27FC236}">
                <a16:creationId xmlns:a16="http://schemas.microsoft.com/office/drawing/2014/main" id="{D98DFA8B-D3DA-5CB4-C4E5-B769C9CE6543}"/>
              </a:ext>
            </a:extLst>
          </p:cNvPr>
          <p:cNvSpPr>
            <a:spLocks noGrp="1"/>
          </p:cNvSpPr>
          <p:nvPr/>
        </p:nvSpPr>
        <p:spPr>
          <a:xfrm>
            <a:off x="14706600" y="609600"/>
            <a:ext cx="2667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200" b="1" i="0">
                <a:solidFill>
                  <a:srgbClr val="6E6E73"/>
                </a:solidFill>
              </a:defRPr>
            </a:pPr>
            <a:r>
              <a:t>AI SKILLS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93DFE89F-95D7-56AF-452A-646A03F0D72D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5905500" cy="24003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0" b="1" i="0">
                <a:solidFill>
                  <a:srgbClr val="0071E3"/>
                </a:solidFill>
              </a:defRPr>
            </a:pPr>
            <a:r>
              <a:t>6</a:t>
            </a:r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772DF459-1DD7-0861-9048-82CC0A27BE33}"/>
              </a:ext>
            </a:extLst>
          </p:cNvPr>
          <p:cNvSpPr>
            <a:spLocks noGrp="1"/>
          </p:cNvSpPr>
          <p:nvPr/>
        </p:nvSpPr>
        <p:spPr>
          <a:xfrm>
            <a:off x="914400" y="7219950"/>
            <a:ext cx="4899546" cy="20002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550" b="1" i="0">
                <a:solidFill>
                  <a:srgbClr val="1D1D1F"/>
                </a:solidFill>
              </a:defRPr>
            </a:pPr>
            <a:endParaRPr/>
          </a:p>
        </p:txBody>
      </p:sp>
      <p:sp>
        <p:nvSpPr>
          <p:cNvPr id="33" name="Rectangle: Rounded Corners 8">
            <a:extLst>
              <a:ext uri="{FF2B5EF4-FFF2-40B4-BE49-F238E27FC236}">
                <a16:creationId xmlns:a16="http://schemas.microsoft.com/office/drawing/2014/main" id="{09B3742D-6942-FBC7-F168-B9C3BBA42850}"/>
              </a:ext>
            </a:extLst>
          </p:cNvPr>
          <p:cNvSpPr>
            <a:spLocks noGrp="1"/>
          </p:cNvSpPr>
          <p:nvPr/>
        </p:nvSpPr>
        <p:spPr>
          <a:xfrm>
            <a:off x="7543800" y="3882390"/>
            <a:ext cx="8589645" cy="1184910"/>
          </a:xfrm>
          <a:prstGeom prst="roundRect">
            <a:avLst>
              <a:gd name="adj" fmla="val 17685"/>
            </a:avLst>
          </a:prstGeom>
          <a:solidFill>
            <a:srgbClr val="2C2C2E"/>
          </a:solidFill>
        </p:spPr>
        <p:txBody>
          <a:bodyPr/>
          <a:lstStyle/>
          <a:p>
            <a:endParaRPr/>
          </a:p>
        </p:txBody>
      </p:sp>
      <p:sp>
        <p:nvSpPr>
          <p:cNvPr id="34" name="Rectangle 9">
            <a:extLst>
              <a:ext uri="{FF2B5EF4-FFF2-40B4-BE49-F238E27FC236}">
                <a16:creationId xmlns:a16="http://schemas.microsoft.com/office/drawing/2014/main" id="{9E7FE8EF-9914-B8D8-766E-3247D385CAC4}"/>
              </a:ext>
            </a:extLst>
          </p:cNvPr>
          <p:cNvSpPr>
            <a:spLocks noGrp="1"/>
          </p:cNvSpPr>
          <p:nvPr/>
        </p:nvSpPr>
        <p:spPr>
          <a:xfrm>
            <a:off x="7808595" y="4072890"/>
            <a:ext cx="80581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 i="0">
                <a:solidFill>
                  <a:srgbClr val="64D2FF"/>
                </a:solidFill>
              </a:defRPr>
            </a:pPr>
            <a:r>
              <a:rPr dirty="0" err="1"/>
              <a:t>starterSkillName</a:t>
            </a:r>
            <a:endParaRPr dirty="0"/>
          </a:p>
        </p:txBody>
      </p:sp>
      <p:sp>
        <p:nvSpPr>
          <p:cNvPr id="35" name="Rectangle 10">
            <a:extLst>
              <a:ext uri="{FF2B5EF4-FFF2-40B4-BE49-F238E27FC236}">
                <a16:creationId xmlns:a16="http://schemas.microsoft.com/office/drawing/2014/main" id="{BA7EC3E1-19E7-4B10-2036-A7E680232A02}"/>
              </a:ext>
            </a:extLst>
          </p:cNvPr>
          <p:cNvSpPr>
            <a:spLocks noGrp="1"/>
          </p:cNvSpPr>
          <p:nvPr/>
        </p:nvSpPr>
        <p:spPr>
          <a:xfrm>
            <a:off x="7808595" y="4358640"/>
            <a:ext cx="805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t>incident-analysis-orchestrator</a:t>
            </a:r>
          </a:p>
        </p:txBody>
      </p:sp>
      <p:sp>
        <p:nvSpPr>
          <p:cNvPr id="36" name="Rectangle 11">
            <a:extLst>
              <a:ext uri="{FF2B5EF4-FFF2-40B4-BE49-F238E27FC236}">
                <a16:creationId xmlns:a16="http://schemas.microsoft.com/office/drawing/2014/main" id="{54E46C08-6F4D-7D5E-EEF6-52E6E1536C42}"/>
              </a:ext>
            </a:extLst>
          </p:cNvPr>
          <p:cNvSpPr>
            <a:spLocks noGrp="1"/>
          </p:cNvSpPr>
          <p:nvPr/>
        </p:nvSpPr>
        <p:spPr>
          <a:xfrm>
            <a:off x="7808595" y="4663440"/>
            <a:ext cx="80581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0" i="0">
                <a:solidFill>
                  <a:srgbClr val="A1A1A6"/>
                </a:solidFill>
              </a:defRPr>
            </a:pPr>
            <a:r>
              <a:t>prowadzi główną kolejność pracy AI</a:t>
            </a:r>
          </a:p>
        </p:txBody>
      </p:sp>
      <p:sp>
        <p:nvSpPr>
          <p:cNvPr id="37" name="Rectangle: Rounded Corners 12">
            <a:extLst>
              <a:ext uri="{FF2B5EF4-FFF2-40B4-BE49-F238E27FC236}">
                <a16:creationId xmlns:a16="http://schemas.microsoft.com/office/drawing/2014/main" id="{21530F9D-C496-2778-9274-3EBB8CD2EC03}"/>
              </a:ext>
            </a:extLst>
          </p:cNvPr>
          <p:cNvSpPr>
            <a:spLocks noGrp="1"/>
          </p:cNvSpPr>
          <p:nvPr/>
        </p:nvSpPr>
        <p:spPr>
          <a:xfrm>
            <a:off x="7543800" y="5238750"/>
            <a:ext cx="8589645" cy="1817370"/>
          </a:xfrm>
          <a:prstGeom prst="roundRect">
            <a:avLst>
              <a:gd name="adj" fmla="val 11530"/>
            </a:avLst>
          </a:prstGeom>
          <a:solidFill>
            <a:srgbClr val="242426"/>
          </a:solidFill>
        </p:spPr>
        <p:txBody>
          <a:bodyPr/>
          <a:lstStyle/>
          <a:p>
            <a:endParaRPr/>
          </a:p>
        </p:txBody>
      </p:sp>
      <p:sp>
        <p:nvSpPr>
          <p:cNvPr id="38" name="Rectangle 13">
            <a:extLst>
              <a:ext uri="{FF2B5EF4-FFF2-40B4-BE49-F238E27FC236}">
                <a16:creationId xmlns:a16="http://schemas.microsoft.com/office/drawing/2014/main" id="{C9DA3608-C4B7-6D90-C40C-7C6D2386A4B3}"/>
              </a:ext>
            </a:extLst>
          </p:cNvPr>
          <p:cNvSpPr>
            <a:spLocks noGrp="1"/>
          </p:cNvSpPr>
          <p:nvPr/>
        </p:nvSpPr>
        <p:spPr>
          <a:xfrm>
            <a:off x="7808595" y="5425440"/>
            <a:ext cx="80581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 i="0">
                <a:solidFill>
                  <a:srgbClr val="A1A1A6"/>
                </a:solidFill>
              </a:defRPr>
            </a:pPr>
            <a:r>
              <a:t>diagnosticSkillNames</a:t>
            </a:r>
          </a:p>
        </p:txBody>
      </p:sp>
      <p:sp>
        <p:nvSpPr>
          <p:cNvPr id="39" name="Rectangle 14">
            <a:extLst>
              <a:ext uri="{FF2B5EF4-FFF2-40B4-BE49-F238E27FC236}">
                <a16:creationId xmlns:a16="http://schemas.microsoft.com/office/drawing/2014/main" id="{770B070C-9EA6-5888-9C06-578038E853C1}"/>
              </a:ext>
            </a:extLst>
          </p:cNvPr>
          <p:cNvSpPr>
            <a:spLocks noGrp="1"/>
          </p:cNvSpPr>
          <p:nvPr/>
        </p:nvSpPr>
        <p:spPr>
          <a:xfrm>
            <a:off x="7808595" y="5711190"/>
            <a:ext cx="805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t>incident-operational-context-tools</a:t>
            </a:r>
          </a:p>
        </p:txBody>
      </p:sp>
      <p:sp>
        <p:nvSpPr>
          <p:cNvPr id="40" name="Rectangle 15">
            <a:extLst>
              <a:ext uri="{FF2B5EF4-FFF2-40B4-BE49-F238E27FC236}">
                <a16:creationId xmlns:a16="http://schemas.microsoft.com/office/drawing/2014/main" id="{A2929570-1B5D-D9FC-EF5D-E500539154A6}"/>
              </a:ext>
            </a:extLst>
          </p:cNvPr>
          <p:cNvSpPr>
            <a:spLocks noGrp="1"/>
          </p:cNvSpPr>
          <p:nvPr/>
        </p:nvSpPr>
        <p:spPr>
          <a:xfrm>
            <a:off x="7808595" y="6035040"/>
            <a:ext cx="805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t>incident-analysis-gitlab-tools</a:t>
            </a:r>
          </a:p>
        </p:txBody>
      </p:sp>
      <p:sp>
        <p:nvSpPr>
          <p:cNvPr id="41" name="Rectangle 16">
            <a:extLst>
              <a:ext uri="{FF2B5EF4-FFF2-40B4-BE49-F238E27FC236}">
                <a16:creationId xmlns:a16="http://schemas.microsoft.com/office/drawing/2014/main" id="{BC783645-5DD8-AE01-7919-EB0CF70EA320}"/>
              </a:ext>
            </a:extLst>
          </p:cNvPr>
          <p:cNvSpPr>
            <a:spLocks noGrp="1"/>
          </p:cNvSpPr>
          <p:nvPr/>
        </p:nvSpPr>
        <p:spPr>
          <a:xfrm>
            <a:off x="7808595" y="6339840"/>
            <a:ext cx="805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t>incident-data-diagnostics</a:t>
            </a:r>
          </a:p>
        </p:txBody>
      </p:sp>
      <p:sp>
        <p:nvSpPr>
          <p:cNvPr id="42" name="Rectangle 17">
            <a:extLst>
              <a:ext uri="{FF2B5EF4-FFF2-40B4-BE49-F238E27FC236}">
                <a16:creationId xmlns:a16="http://schemas.microsoft.com/office/drawing/2014/main" id="{DA2C5A1F-B91C-1087-715F-DE2C11C0519C}"/>
              </a:ext>
            </a:extLst>
          </p:cNvPr>
          <p:cNvSpPr>
            <a:spLocks noGrp="1"/>
          </p:cNvSpPr>
          <p:nvPr/>
        </p:nvSpPr>
        <p:spPr>
          <a:xfrm>
            <a:off x="7808595" y="6663690"/>
            <a:ext cx="80581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0" i="0">
                <a:solidFill>
                  <a:srgbClr val="A1A1A6"/>
                </a:solidFill>
              </a:defRPr>
            </a:pPr>
            <a:r>
              <a:rPr dirty="0" err="1"/>
              <a:t>uczą</a:t>
            </a:r>
            <a:r>
              <a:rPr dirty="0"/>
              <a:t>, </a:t>
            </a:r>
            <a:r>
              <a:rPr dirty="0" err="1"/>
              <a:t>kiedy</a:t>
            </a:r>
            <a:r>
              <a:rPr dirty="0"/>
              <a:t> </a:t>
            </a:r>
            <a:r>
              <a:rPr lang="pl-PL" dirty="0"/>
              <a:t>rozszerzyć</a:t>
            </a:r>
            <a:r>
              <a:rPr dirty="0"/>
              <a:t> </a:t>
            </a:r>
            <a:r>
              <a:rPr dirty="0" err="1"/>
              <a:t>kontekst</a:t>
            </a:r>
            <a:r>
              <a:rPr dirty="0"/>
              <a:t> </a:t>
            </a:r>
            <a:r>
              <a:rPr dirty="0" err="1"/>
              <a:t>przez</a:t>
            </a:r>
            <a:r>
              <a:rPr dirty="0"/>
              <a:t> </a:t>
            </a:r>
            <a:r>
              <a:rPr dirty="0" err="1"/>
              <a:t>konkretne</a:t>
            </a:r>
            <a:r>
              <a:rPr dirty="0"/>
              <a:t> </a:t>
            </a:r>
            <a:r>
              <a:rPr dirty="0" err="1"/>
              <a:t>toole</a:t>
            </a:r>
            <a:endParaRPr dirty="0"/>
          </a:p>
        </p:txBody>
      </p:sp>
      <p:sp>
        <p:nvSpPr>
          <p:cNvPr id="43" name="Rectangle: Rounded Corners 18">
            <a:extLst>
              <a:ext uri="{FF2B5EF4-FFF2-40B4-BE49-F238E27FC236}">
                <a16:creationId xmlns:a16="http://schemas.microsoft.com/office/drawing/2014/main" id="{653B00CC-00F5-8F62-2DDC-FE8C19E0BF6C}"/>
              </a:ext>
            </a:extLst>
          </p:cNvPr>
          <p:cNvSpPr>
            <a:spLocks noGrp="1"/>
          </p:cNvSpPr>
          <p:nvPr/>
        </p:nvSpPr>
        <p:spPr>
          <a:xfrm>
            <a:off x="7543800" y="7227570"/>
            <a:ext cx="8589645" cy="1501140"/>
          </a:xfrm>
          <a:prstGeom prst="roundRect">
            <a:avLst>
              <a:gd name="adj" fmla="val 13959"/>
            </a:avLst>
          </a:prstGeom>
          <a:solidFill>
            <a:srgbClr val="242426"/>
          </a:solidFill>
        </p:spPr>
        <p:txBody>
          <a:bodyPr/>
          <a:lstStyle/>
          <a:p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ADCDE5B-845A-4549-88EC-3F56D1DE240E}"/>
              </a:ext>
            </a:extLst>
          </p:cNvPr>
          <p:cNvSpPr>
            <a:spLocks noGrp="1"/>
          </p:cNvSpPr>
          <p:nvPr/>
        </p:nvSpPr>
        <p:spPr>
          <a:xfrm>
            <a:off x="7808595" y="7425690"/>
            <a:ext cx="80581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 i="0">
                <a:solidFill>
                  <a:srgbClr val="A1A1A6"/>
                </a:solidFill>
              </a:defRPr>
            </a:pPr>
            <a:r>
              <a:t>resultSkillNames</a:t>
            </a:r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1276D9F4-72E5-A816-AA78-FE7951A5E09E}"/>
              </a:ext>
            </a:extLst>
          </p:cNvPr>
          <p:cNvSpPr>
            <a:spLocks noGrp="1"/>
          </p:cNvSpPr>
          <p:nvPr/>
        </p:nvSpPr>
        <p:spPr>
          <a:xfrm>
            <a:off x="7808595" y="7692390"/>
            <a:ext cx="805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t>incident-functional-analysis</a:t>
            </a:r>
          </a:p>
        </p:txBody>
      </p:sp>
      <p:sp>
        <p:nvSpPr>
          <p:cNvPr id="46" name="Rectangle 21">
            <a:extLst>
              <a:ext uri="{FF2B5EF4-FFF2-40B4-BE49-F238E27FC236}">
                <a16:creationId xmlns:a16="http://schemas.microsoft.com/office/drawing/2014/main" id="{572B1623-7900-AFC6-52B0-AC9A3F4381A3}"/>
              </a:ext>
            </a:extLst>
          </p:cNvPr>
          <p:cNvSpPr>
            <a:spLocks noGrp="1"/>
          </p:cNvSpPr>
          <p:nvPr/>
        </p:nvSpPr>
        <p:spPr>
          <a:xfrm>
            <a:off x="7808595" y="8016240"/>
            <a:ext cx="8058150" cy="247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75" b="1" i="0">
                <a:solidFill>
                  <a:srgbClr val="FFFFFF"/>
                </a:solidFill>
              </a:defRPr>
            </a:pPr>
            <a:r>
              <a:t>incident-technical-handoff</a:t>
            </a:r>
          </a:p>
        </p:txBody>
      </p:sp>
      <p:sp>
        <p:nvSpPr>
          <p:cNvPr id="47" name="Rectangle 22">
            <a:extLst>
              <a:ext uri="{FF2B5EF4-FFF2-40B4-BE49-F238E27FC236}">
                <a16:creationId xmlns:a16="http://schemas.microsoft.com/office/drawing/2014/main" id="{62DEBAA4-1673-16F2-4960-BDFEB07C5CBB}"/>
              </a:ext>
            </a:extLst>
          </p:cNvPr>
          <p:cNvSpPr>
            <a:spLocks noGrp="1"/>
          </p:cNvSpPr>
          <p:nvPr/>
        </p:nvSpPr>
        <p:spPr>
          <a:xfrm>
            <a:off x="7808595" y="8340090"/>
            <a:ext cx="80581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0" i="0">
                <a:solidFill>
                  <a:srgbClr val="A1A1A6"/>
                </a:solidFill>
              </a:defRPr>
            </a:pPr>
            <a:r>
              <a:t>pilnują użytecznego wyniku dla analityka i zespołu technicznego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BEEB8082-1CD6-0201-C1C6-2FF20A193397}"/>
              </a:ext>
            </a:extLst>
          </p:cNvPr>
          <p:cNvSpPr>
            <a:spLocks noGrp="1"/>
          </p:cNvSpPr>
          <p:nvPr/>
        </p:nvSpPr>
        <p:spPr>
          <a:xfrm>
            <a:off x="914400" y="7219950"/>
            <a:ext cx="4176216" cy="1657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buNone/>
              <a:defRPr sz="2550" b="1" i="0">
                <a:solidFill>
                  <a:srgbClr val="1D1D1F"/>
                </a:solidFill>
              </a:defRPr>
            </a:pPr>
            <a:r>
              <a:t>Instrukcja pracy eksperta – analityka systemowego</a:t>
            </a:r>
          </a:p>
        </p:txBody>
      </p:sp>
    </p:spTree>
    <p:extLst>
      <p:ext uri="{BB962C8B-B14F-4D97-AF65-F5344CB8AC3E}">
        <p14:creationId xmlns:p14="http://schemas.microsoft.com/office/powerpoint/2010/main" val="448413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3407F3D-FCB8-4193-B3C1-160360C06D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D7A8B7D-B11D-4FDC-AD8D-F86C9CB41FD7}"/>
              </a:ext>
            </a:extLst>
          </p:cNvPr>
          <p:cNvSpPr>
            <a:spLocks noGrp="1"/>
          </p:cNvSpPr>
          <p:nvPr/>
        </p:nvSpPr>
        <p:spPr>
          <a:xfrm>
            <a:off x="914400" y="6667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42F02F7-545C-4386-8AFB-C7D81FC25D38}"/>
              </a:ext>
            </a:extLst>
          </p:cNvPr>
          <p:cNvSpPr>
            <a:spLocks noGrp="1"/>
          </p:cNvSpPr>
          <p:nvPr/>
        </p:nvSpPr>
        <p:spPr>
          <a:xfrm>
            <a:off x="2952750" y="762000"/>
            <a:ext cx="11715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D23549-22C9-4D90-97B1-1EDC30B57756}"/>
              </a:ext>
            </a:extLst>
          </p:cNvPr>
          <p:cNvSpPr>
            <a:spLocks noGrp="1"/>
          </p:cNvSpPr>
          <p:nvPr/>
        </p:nvSpPr>
        <p:spPr>
          <a:xfrm>
            <a:off x="14897100" y="6667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AGENTIC 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754C53-2C43-42CC-92B8-415B375520B5}"/>
              </a:ext>
            </a:extLst>
          </p:cNvPr>
          <p:cNvSpPr>
            <a:spLocks noGrp="1"/>
          </p:cNvSpPr>
          <p:nvPr/>
        </p:nvSpPr>
        <p:spPr>
          <a:xfrm>
            <a:off x="914400" y="3371850"/>
            <a:ext cx="5943600" cy="7429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4800" b="1">
                <a:solidFill>
                  <a:srgbClr val="1D1D1F"/>
                </a:solidFill>
              </a:defRPr>
            </a:pPr>
            <a:r>
              <a:t>Agent pracuje w pętli.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CC2710-0C54-4C02-B65C-D63E54C5F869}"/>
              </a:ext>
            </a:extLst>
          </p:cNvPr>
          <p:cNvSpPr>
            <a:spLocks noGrp="1"/>
          </p:cNvSpPr>
          <p:nvPr/>
        </p:nvSpPr>
        <p:spPr>
          <a:xfrm>
            <a:off x="914400" y="4324350"/>
            <a:ext cx="5943600" cy="1333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4350" b="1">
                <a:solidFill>
                  <a:srgbClr val="1D1D1F"/>
                </a:solidFill>
              </a:defRPr>
            </a:pPr>
            <a:r>
              <a:t>Aż dowiezie cel z promptu i skilli.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E7C3218-B7B5-4F55-9880-978903436843}"/>
              </a:ext>
            </a:extLst>
          </p:cNvPr>
          <p:cNvSpPr>
            <a:spLocks noGrp="1"/>
          </p:cNvSpPr>
          <p:nvPr/>
        </p:nvSpPr>
        <p:spPr>
          <a:xfrm>
            <a:off x="914400" y="5886450"/>
            <a:ext cx="5943600" cy="1028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250" b="0">
                <a:solidFill>
                  <a:srgbClr val="6E6E73"/>
                </a:solidFill>
              </a:defRPr>
            </a:pPr>
            <a:r>
              <a:t>Orkiestrator nie zamienia analizy w jeden strzał. Pilnuje cyklu: hipoteza, luka, tool, nowy fakt, decyzja.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5AE515-4CA2-48A4-963F-4AEA702DACC6}"/>
              </a:ext>
            </a:extLst>
          </p:cNvPr>
          <p:cNvSpPr>
            <a:spLocks noGrp="1"/>
          </p:cNvSpPr>
          <p:nvPr/>
        </p:nvSpPr>
        <p:spPr>
          <a:xfrm>
            <a:off x="7467600" y="2609849"/>
            <a:ext cx="9906000" cy="6143625"/>
          </a:xfrm>
          <a:prstGeom prst="roundRect">
            <a:avLst>
              <a:gd name="adj" fmla="val 3383"/>
            </a:avLst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E53287-0E27-40AF-8B13-D6CDF721D94C}"/>
              </a:ext>
            </a:extLst>
          </p:cNvPr>
          <p:cNvSpPr>
            <a:spLocks noGrp="1"/>
          </p:cNvSpPr>
          <p:nvPr/>
        </p:nvSpPr>
        <p:spPr>
          <a:xfrm>
            <a:off x="8924925" y="4076699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BE37BC-3BF3-400A-A7D9-8A9A88184572}"/>
              </a:ext>
            </a:extLst>
          </p:cNvPr>
          <p:cNvSpPr>
            <a:spLocks noGrp="1"/>
          </p:cNvSpPr>
          <p:nvPr/>
        </p:nvSpPr>
        <p:spPr>
          <a:xfrm>
            <a:off x="9115425" y="4210049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716B38-7455-4978-99C7-2C712F660E99}"/>
              </a:ext>
            </a:extLst>
          </p:cNvPr>
          <p:cNvSpPr>
            <a:spLocks noGrp="1"/>
          </p:cNvSpPr>
          <p:nvPr/>
        </p:nvSpPr>
        <p:spPr>
          <a:xfrm>
            <a:off x="7991475" y="4686299"/>
            <a:ext cx="23812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175" b="1">
                <a:solidFill>
                  <a:srgbClr val="1D1D1F"/>
                </a:solidFill>
              </a:defRPr>
            </a:pPr>
            <a:r>
              <a:rPr dirty="0" err="1"/>
              <a:t>hipoteza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40B268-029E-4FC3-BBFD-98588A344B20}"/>
              </a:ext>
            </a:extLst>
          </p:cNvPr>
          <p:cNvSpPr>
            <a:spLocks noGrp="1"/>
          </p:cNvSpPr>
          <p:nvPr/>
        </p:nvSpPr>
        <p:spPr>
          <a:xfrm>
            <a:off x="7991475" y="5124449"/>
            <a:ext cx="2381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0">
                <a:solidFill>
                  <a:srgbClr val="6E6E73"/>
                </a:solidFill>
              </a:defRPr>
            </a:pPr>
            <a:r>
              <a:rPr dirty="0"/>
              <a:t>co </a:t>
            </a:r>
            <a:r>
              <a:rPr dirty="0" err="1"/>
              <a:t>może</a:t>
            </a:r>
            <a:r>
              <a:rPr dirty="0"/>
              <a:t> </a:t>
            </a:r>
            <a:r>
              <a:rPr dirty="0" err="1"/>
              <a:t>wyjaśniać</a:t>
            </a:r>
            <a:r>
              <a:rPr dirty="0"/>
              <a:t> symptom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4CFC86-AAF1-4DB3-80F1-F0BF1B1B7905}"/>
              </a:ext>
            </a:extLst>
          </p:cNvPr>
          <p:cNvSpPr>
            <a:spLocks noGrp="1"/>
          </p:cNvSpPr>
          <p:nvPr/>
        </p:nvSpPr>
        <p:spPr>
          <a:xfrm rot="19909661">
            <a:off x="10236222" y="3852386"/>
            <a:ext cx="4191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3150" b="1">
                <a:solidFill>
                  <a:srgbClr val="D2D2D7"/>
                </a:solidFill>
              </a:defRPr>
            </a:pPr>
            <a:r>
              <a:t>→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A35686F-43BE-48DD-AFD7-D41A04222FA4}"/>
              </a:ext>
            </a:extLst>
          </p:cNvPr>
          <p:cNvSpPr>
            <a:spLocks noGrp="1"/>
          </p:cNvSpPr>
          <p:nvPr/>
        </p:nvSpPr>
        <p:spPr>
          <a:xfrm>
            <a:off x="11887200" y="2895600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04652F-5B1C-4423-89DA-AA86D2C4A38A}"/>
              </a:ext>
            </a:extLst>
          </p:cNvPr>
          <p:cNvSpPr>
            <a:spLocks noGrp="1"/>
          </p:cNvSpPr>
          <p:nvPr/>
        </p:nvSpPr>
        <p:spPr>
          <a:xfrm>
            <a:off x="12077700" y="3028950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63CC70-F5C8-4C36-97BA-B31497E9AB70}"/>
              </a:ext>
            </a:extLst>
          </p:cNvPr>
          <p:cNvSpPr>
            <a:spLocks noGrp="1"/>
          </p:cNvSpPr>
          <p:nvPr/>
        </p:nvSpPr>
        <p:spPr>
          <a:xfrm>
            <a:off x="10953750" y="3505200"/>
            <a:ext cx="23812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175" b="1">
                <a:solidFill>
                  <a:srgbClr val="1D1D1F"/>
                </a:solidFill>
              </a:defRPr>
            </a:pPr>
            <a:r>
              <a:t>luka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78A2D7-9A8C-417F-9403-2B059A0F1C3F}"/>
              </a:ext>
            </a:extLst>
          </p:cNvPr>
          <p:cNvSpPr>
            <a:spLocks noGrp="1"/>
          </p:cNvSpPr>
          <p:nvPr/>
        </p:nvSpPr>
        <p:spPr>
          <a:xfrm>
            <a:off x="10953750" y="3943350"/>
            <a:ext cx="2381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0">
                <a:solidFill>
                  <a:srgbClr val="6E6E73"/>
                </a:solidFill>
              </a:defRPr>
            </a:pPr>
            <a:r>
              <a:t>czego jeszcze nie wiemy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A82DB3C-95AA-4941-83B1-BF074ABF021C}"/>
              </a:ext>
            </a:extLst>
          </p:cNvPr>
          <p:cNvSpPr>
            <a:spLocks noGrp="1"/>
          </p:cNvSpPr>
          <p:nvPr/>
        </p:nvSpPr>
        <p:spPr>
          <a:xfrm rot="1624381">
            <a:off x="13820774" y="3735439"/>
            <a:ext cx="4191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3150" b="1">
                <a:solidFill>
                  <a:srgbClr val="D2D2D7"/>
                </a:solidFill>
              </a:defRPr>
            </a:pPr>
            <a:r>
              <a:t>→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6ADE14-4AF3-4D4A-83BE-57B4A6DEE263}"/>
              </a:ext>
            </a:extLst>
          </p:cNvPr>
          <p:cNvSpPr>
            <a:spLocks noGrp="1"/>
          </p:cNvSpPr>
          <p:nvPr/>
        </p:nvSpPr>
        <p:spPr>
          <a:xfrm>
            <a:off x="15191740" y="4071936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C5C7B3-09C8-468F-B8A3-6C1D3825531F}"/>
              </a:ext>
            </a:extLst>
          </p:cNvPr>
          <p:cNvSpPr>
            <a:spLocks noGrp="1"/>
          </p:cNvSpPr>
          <p:nvPr/>
        </p:nvSpPr>
        <p:spPr>
          <a:xfrm>
            <a:off x="15382240" y="4205286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F389D6-61FB-4539-B73E-5EE6599544B4}"/>
              </a:ext>
            </a:extLst>
          </p:cNvPr>
          <p:cNvSpPr>
            <a:spLocks noGrp="1"/>
          </p:cNvSpPr>
          <p:nvPr/>
        </p:nvSpPr>
        <p:spPr>
          <a:xfrm>
            <a:off x="14258290" y="4681536"/>
            <a:ext cx="23812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175" b="1">
                <a:solidFill>
                  <a:srgbClr val="1D1D1F"/>
                </a:solidFill>
              </a:defRPr>
            </a:pPr>
            <a:r>
              <a:t>tool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88F100-1BCF-4EE8-9B20-1EE2F2CAE345}"/>
              </a:ext>
            </a:extLst>
          </p:cNvPr>
          <p:cNvSpPr>
            <a:spLocks noGrp="1"/>
          </p:cNvSpPr>
          <p:nvPr/>
        </p:nvSpPr>
        <p:spPr>
          <a:xfrm>
            <a:off x="14258290" y="5119686"/>
            <a:ext cx="2381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0">
                <a:solidFill>
                  <a:srgbClr val="6E6E73"/>
                </a:solidFill>
              </a:defRPr>
            </a:pPr>
            <a:r>
              <a:t>które źródło odpowie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29D6D5-308D-4B6F-9B96-D37F65641DA0}"/>
              </a:ext>
            </a:extLst>
          </p:cNvPr>
          <p:cNvSpPr>
            <a:spLocks noGrp="1"/>
          </p:cNvSpPr>
          <p:nvPr/>
        </p:nvSpPr>
        <p:spPr>
          <a:xfrm rot="2439315">
            <a:off x="15022659" y="5700168"/>
            <a:ext cx="448310" cy="4953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3150" b="1">
                <a:solidFill>
                  <a:srgbClr val="D2D2D7"/>
                </a:solidFill>
              </a:defRPr>
            </a:pPr>
            <a:r>
              <a:t>↓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55577F4-5B20-48EC-A555-C7133D0647FA}"/>
              </a:ext>
            </a:extLst>
          </p:cNvPr>
          <p:cNvSpPr>
            <a:spLocks noGrp="1"/>
          </p:cNvSpPr>
          <p:nvPr/>
        </p:nvSpPr>
        <p:spPr>
          <a:xfrm>
            <a:off x="10829925" y="5762624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6C1508-2703-4825-9E33-962172C7DD51}"/>
              </a:ext>
            </a:extLst>
          </p:cNvPr>
          <p:cNvSpPr>
            <a:spLocks noGrp="1"/>
          </p:cNvSpPr>
          <p:nvPr/>
        </p:nvSpPr>
        <p:spPr>
          <a:xfrm>
            <a:off x="11020425" y="5895974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88FB52-F1B0-4E0D-96C2-587E93520FE3}"/>
              </a:ext>
            </a:extLst>
          </p:cNvPr>
          <p:cNvSpPr>
            <a:spLocks noGrp="1"/>
          </p:cNvSpPr>
          <p:nvPr/>
        </p:nvSpPr>
        <p:spPr>
          <a:xfrm>
            <a:off x="9896475" y="6372224"/>
            <a:ext cx="23812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175" b="1">
                <a:solidFill>
                  <a:srgbClr val="1D1D1F"/>
                </a:solidFill>
              </a:defRPr>
            </a:pPr>
            <a:r>
              <a:t>decyzja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6959FCD-FEA1-47E2-B4B9-B27CA50D6FBF}"/>
              </a:ext>
            </a:extLst>
          </p:cNvPr>
          <p:cNvSpPr>
            <a:spLocks noGrp="1"/>
          </p:cNvSpPr>
          <p:nvPr/>
        </p:nvSpPr>
        <p:spPr>
          <a:xfrm>
            <a:off x="9896475" y="6810374"/>
            <a:ext cx="2381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0">
                <a:solidFill>
                  <a:srgbClr val="6E6E73"/>
                </a:solidFill>
              </a:defRPr>
            </a:pPr>
            <a:r>
              <a:t>kończ albo wracaj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77E42A6-D4D1-4109-A3E6-D98D093DBAAA}"/>
              </a:ext>
            </a:extLst>
          </p:cNvPr>
          <p:cNvSpPr>
            <a:spLocks noGrp="1"/>
          </p:cNvSpPr>
          <p:nvPr/>
        </p:nvSpPr>
        <p:spPr>
          <a:xfrm>
            <a:off x="12315825" y="6072187"/>
            <a:ext cx="419100" cy="4953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3150" b="1">
                <a:solidFill>
                  <a:srgbClr val="D2D2D7"/>
                </a:solidFill>
              </a:defRPr>
            </a:pPr>
            <a:r>
              <a:t>←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0B96BCF-4B7E-487A-BB47-EB4FCEA0B4CC}"/>
              </a:ext>
            </a:extLst>
          </p:cNvPr>
          <p:cNvSpPr>
            <a:spLocks noGrp="1"/>
          </p:cNvSpPr>
          <p:nvPr/>
        </p:nvSpPr>
        <p:spPr>
          <a:xfrm>
            <a:off x="13773150" y="5772148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F74C6CA-C5CD-4B53-8A82-85D2FE7D6FFE}"/>
              </a:ext>
            </a:extLst>
          </p:cNvPr>
          <p:cNvSpPr>
            <a:spLocks noGrp="1"/>
          </p:cNvSpPr>
          <p:nvPr/>
        </p:nvSpPr>
        <p:spPr>
          <a:xfrm>
            <a:off x="13963650" y="5905498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024E9C-4C00-41FA-B834-6AE224F4C145}"/>
              </a:ext>
            </a:extLst>
          </p:cNvPr>
          <p:cNvSpPr>
            <a:spLocks noGrp="1"/>
          </p:cNvSpPr>
          <p:nvPr/>
        </p:nvSpPr>
        <p:spPr>
          <a:xfrm>
            <a:off x="12839700" y="6381748"/>
            <a:ext cx="23812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2175" b="1">
                <a:solidFill>
                  <a:srgbClr val="1D1D1F"/>
                </a:solidFill>
              </a:defRPr>
            </a:pPr>
            <a:r>
              <a:t>nowy fakt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EEDA58-6374-4316-B87D-B5AB4CDBE981}"/>
              </a:ext>
            </a:extLst>
          </p:cNvPr>
          <p:cNvSpPr>
            <a:spLocks noGrp="1"/>
          </p:cNvSpPr>
          <p:nvPr/>
        </p:nvSpPr>
        <p:spPr>
          <a:xfrm>
            <a:off x="12839700" y="6819898"/>
            <a:ext cx="23812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0">
                <a:solidFill>
                  <a:srgbClr val="6E6E73"/>
                </a:solidFill>
              </a:defRPr>
            </a:pPr>
            <a:r>
              <a:t>co zmienia evidence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5DE127-8677-494E-ADCA-859587FC397A}"/>
              </a:ext>
            </a:extLst>
          </p:cNvPr>
          <p:cNvSpPr>
            <a:spLocks noGrp="1"/>
          </p:cNvSpPr>
          <p:nvPr/>
        </p:nvSpPr>
        <p:spPr>
          <a:xfrm>
            <a:off x="2830749" y="7953374"/>
            <a:ext cx="3562350" cy="4953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3300" b="1">
                <a:solidFill>
                  <a:srgbClr val="0071E3"/>
                </a:solidFill>
              </a:defRPr>
            </a:pPr>
            <a:endParaRPr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B06C02-B564-44BE-BA11-9B49B5B8EC0D}"/>
              </a:ext>
            </a:extLst>
          </p:cNvPr>
          <p:cNvSpPr>
            <a:spLocks noGrp="1"/>
          </p:cNvSpPr>
          <p:nvPr/>
        </p:nvSpPr>
        <p:spPr>
          <a:xfrm>
            <a:off x="7966548" y="7724774"/>
            <a:ext cx="925830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48ECE7A-0639-410A-AFF0-44AB1AD69659}"/>
              </a:ext>
            </a:extLst>
          </p:cNvPr>
          <p:cNvSpPr>
            <a:spLocks noGrp="1"/>
          </p:cNvSpPr>
          <p:nvPr/>
        </p:nvSpPr>
        <p:spPr>
          <a:xfrm>
            <a:off x="7966548" y="8029574"/>
            <a:ext cx="742950" cy="4191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F27AA8-6C02-47ED-8F7E-E3CD9B561F1D}"/>
              </a:ext>
            </a:extLst>
          </p:cNvPr>
          <p:cNvSpPr>
            <a:spLocks noGrp="1"/>
          </p:cNvSpPr>
          <p:nvPr/>
        </p:nvSpPr>
        <p:spPr>
          <a:xfrm>
            <a:off x="8157048" y="8143874"/>
            <a:ext cx="381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350" b="1">
                <a:solidFill>
                  <a:srgbClr val="FFFFFF"/>
                </a:solidFill>
              </a:defRPr>
            </a:pPr>
            <a:r>
              <a:t>STOP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097E5ED-2E83-4FD7-821C-206F38AD726F}"/>
              </a:ext>
            </a:extLst>
          </p:cNvPr>
          <p:cNvSpPr>
            <a:spLocks noGrp="1"/>
          </p:cNvSpPr>
          <p:nvPr/>
        </p:nvSpPr>
        <p:spPr>
          <a:xfrm>
            <a:off x="8880948" y="7934324"/>
            <a:ext cx="8343900" cy="609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950" b="1">
                <a:solidFill>
                  <a:srgbClr val="1D1D1F"/>
                </a:solidFill>
              </a:defRPr>
            </a:pPr>
            <a:r>
              <a:t>pętla kończy się dopiero, gdy wynik spełnia kryteria zapisane w promptcie i skillach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78710D-5EF7-4491-A08C-D04F5EA26D67}"/>
              </a:ext>
            </a:extLst>
          </p:cNvPr>
          <p:cNvSpPr>
            <a:spLocks noGrp="1"/>
          </p:cNvSpPr>
          <p:nvPr/>
        </p:nvSpPr>
        <p:spPr>
          <a:xfrm>
            <a:off x="914400" y="9429750"/>
            <a:ext cx="15811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0">
                <a:solidFill>
                  <a:srgbClr val="6E6E73"/>
                </a:solidFill>
              </a:defRPr>
            </a:pPr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7C672B-7211-449C-97ED-BB5D0870295E}"/>
              </a:ext>
            </a:extLst>
          </p:cNvPr>
          <p:cNvSpPr>
            <a:spLocks noGrp="1"/>
          </p:cNvSpPr>
          <p:nvPr/>
        </p:nvSpPr>
        <p:spPr>
          <a:xfrm>
            <a:off x="16954500" y="942975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10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0C5F5E-29A3-3F10-8280-602CFDEA9788}"/>
              </a:ext>
            </a:extLst>
          </p:cNvPr>
          <p:cNvSpPr>
            <a:spLocks noGrp="1"/>
          </p:cNvSpPr>
          <p:nvPr/>
        </p:nvSpPr>
        <p:spPr>
          <a:xfrm rot="8458947">
            <a:off x="9844365" y="5736431"/>
            <a:ext cx="448310" cy="4953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3150" b="1">
                <a:solidFill>
                  <a:srgbClr val="D2D2D7"/>
                </a:solidFill>
              </a:defRPr>
            </a:pPr>
            <a: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69189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BEDE27F5-F3EF-460D-9EF5-A63325484C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79ECF9-7116-4512-BE9A-EE1960263653}"/>
              </a:ext>
            </a:extLst>
          </p:cNvPr>
          <p:cNvSpPr>
            <a:spLocks noGrp="1"/>
          </p:cNvSpPr>
          <p:nvPr/>
        </p:nvSpPr>
        <p:spPr>
          <a:xfrm>
            <a:off x="914400" y="6667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46DF0-D3FD-4244-A2E4-011912D232C4}"/>
              </a:ext>
            </a:extLst>
          </p:cNvPr>
          <p:cNvSpPr>
            <a:spLocks noGrp="1"/>
          </p:cNvSpPr>
          <p:nvPr/>
        </p:nvSpPr>
        <p:spPr>
          <a:xfrm>
            <a:off x="2952750" y="762000"/>
            <a:ext cx="111442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E58FB-9675-4493-BC08-4F74298B7CCB}"/>
              </a:ext>
            </a:extLst>
          </p:cNvPr>
          <p:cNvSpPr>
            <a:spLocks noGrp="1"/>
          </p:cNvSpPr>
          <p:nvPr/>
        </p:nvSpPr>
        <p:spPr>
          <a:xfrm>
            <a:off x="14325600" y="666750"/>
            <a:ext cx="3048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COPILOT TRACE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EC53E-122C-43BC-8761-AB166526B76B}"/>
              </a:ext>
            </a:extLst>
          </p:cNvPr>
          <p:cNvSpPr>
            <a:spLocks noGrp="1"/>
          </p:cNvSpPr>
          <p:nvPr/>
        </p:nvSpPr>
        <p:spPr>
          <a:xfrm>
            <a:off x="914400" y="2628900"/>
            <a:ext cx="6457950" cy="800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250" b="1">
                <a:solidFill>
                  <a:srgbClr val="1D1D1F"/>
                </a:solidFill>
              </a:defRPr>
            </a:pPr>
            <a:r>
              <a:rPr lang="pl-PL" dirty="0"/>
              <a:t>Metryki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F1021-688B-4AF0-AE0B-B57FF7A338CD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6457950" cy="8001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250" b="1">
                <a:solidFill>
                  <a:srgbClr val="FF0A0A"/>
                </a:solidFill>
              </a:defRPr>
            </a:pPr>
            <a:r>
              <a:rPr dirty="0"/>
              <a:t>Nie </a:t>
            </a:r>
            <a:r>
              <a:rPr dirty="0" err="1"/>
              <a:t>tylko</a:t>
            </a:r>
            <a:r>
              <a:rPr dirty="0"/>
              <a:t> </a:t>
            </a:r>
            <a:r>
              <a:rPr dirty="0" err="1"/>
              <a:t>diagnoza</a:t>
            </a:r>
            <a:r>
              <a:rPr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2EA41F-206E-4684-B585-F3E9D299EA8B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6057900" cy="666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75" b="0">
                <a:solidFill>
                  <a:srgbClr val="6E6E73"/>
                </a:solidFill>
              </a:defRPr>
            </a:pPr>
            <a:r>
              <a:rPr dirty="0" err="1"/>
              <a:t>Wynik</a:t>
            </a:r>
            <a:r>
              <a:rPr dirty="0"/>
              <a:t> ze </a:t>
            </a:r>
            <a:r>
              <a:rPr dirty="0" err="1"/>
              <a:t>skilli</a:t>
            </a:r>
            <a:r>
              <a:rPr dirty="0"/>
              <a:t> jest </a:t>
            </a:r>
            <a:r>
              <a:rPr dirty="0" err="1"/>
              <a:t>końcem</a:t>
            </a:r>
            <a:r>
              <a:rPr dirty="0"/>
              <a:t> </a:t>
            </a:r>
            <a:r>
              <a:rPr dirty="0" err="1"/>
              <a:t>analizy</a:t>
            </a:r>
            <a:r>
              <a:rPr dirty="0"/>
              <a:t>. UI </a:t>
            </a:r>
            <a:r>
              <a:rPr dirty="0" err="1"/>
              <a:t>pokazuje</a:t>
            </a:r>
            <a:r>
              <a:rPr dirty="0"/>
              <a:t> </a:t>
            </a:r>
            <a:r>
              <a:rPr dirty="0" err="1"/>
              <a:t>też</a:t>
            </a:r>
            <a:r>
              <a:rPr dirty="0"/>
              <a:t>, jak Copilot do </a:t>
            </a:r>
            <a:r>
              <a:rPr dirty="0" err="1"/>
              <a:t>niego</a:t>
            </a:r>
            <a:r>
              <a:rPr dirty="0"/>
              <a:t> </a:t>
            </a:r>
            <a:r>
              <a:rPr dirty="0" err="1"/>
              <a:t>doszedł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ile</a:t>
            </a:r>
            <a:r>
              <a:rPr dirty="0"/>
              <a:t> ta </a:t>
            </a:r>
            <a:r>
              <a:rPr dirty="0" err="1"/>
              <a:t>droga</a:t>
            </a:r>
            <a:r>
              <a:rPr dirty="0"/>
              <a:t> </a:t>
            </a:r>
            <a:r>
              <a:rPr dirty="0" err="1"/>
              <a:t>kosztowała</a:t>
            </a:r>
            <a:r>
              <a:rPr dirty="0"/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9065F5-BF4E-4F6A-9AE1-F80A8EEA009C}"/>
              </a:ext>
            </a:extLst>
          </p:cNvPr>
          <p:cNvSpPr>
            <a:spLocks noGrp="1"/>
          </p:cNvSpPr>
          <p:nvPr/>
        </p:nvSpPr>
        <p:spPr>
          <a:xfrm>
            <a:off x="914400" y="5939790"/>
            <a:ext cx="2038350" cy="876300"/>
          </a:xfrm>
          <a:prstGeom prst="roundRect">
            <a:avLst>
              <a:gd name="adj" fmla="val 19565"/>
            </a:avLst>
          </a:prstGeom>
          <a:solidFill>
            <a:srgbClr val="FFFFFF"/>
          </a:solidFill>
        </p:spPr>
        <p:txBody>
          <a:bodyPr/>
          <a:lstStyle/>
          <a:p>
            <a:endParaRPr lang="pl-P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159575-4B22-4162-8DE5-70B8AAB496A2}"/>
              </a:ext>
            </a:extLst>
          </p:cNvPr>
          <p:cNvSpPr>
            <a:spLocks noGrp="1"/>
          </p:cNvSpPr>
          <p:nvPr/>
        </p:nvSpPr>
        <p:spPr>
          <a:xfrm>
            <a:off x="1104900" y="6096000"/>
            <a:ext cx="1657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200" b="1">
                <a:solidFill>
                  <a:srgbClr val="6E6E73"/>
                </a:solidFill>
              </a:defRPr>
            </a:pPr>
            <a:r>
              <a:t>AI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847323-E8FD-457F-B62E-B849D81775A8}"/>
              </a:ext>
            </a:extLst>
          </p:cNvPr>
          <p:cNvSpPr>
            <a:spLocks noGrp="1"/>
          </p:cNvSpPr>
          <p:nvPr/>
        </p:nvSpPr>
        <p:spPr>
          <a:xfrm>
            <a:off x="1104900" y="6324600"/>
            <a:ext cx="165735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AF52DE"/>
                </a:solidFill>
              </a:defRPr>
            </a:pPr>
            <a:r>
              <a:t>reasoning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F4D1681-0EAD-4B23-9685-D54273249F04}"/>
              </a:ext>
            </a:extLst>
          </p:cNvPr>
          <p:cNvSpPr>
            <a:spLocks noGrp="1"/>
          </p:cNvSpPr>
          <p:nvPr/>
        </p:nvSpPr>
        <p:spPr>
          <a:xfrm>
            <a:off x="3086100" y="5939790"/>
            <a:ext cx="2038350" cy="876300"/>
          </a:xfrm>
          <a:prstGeom prst="roundRect">
            <a:avLst>
              <a:gd name="adj" fmla="val 19565"/>
            </a:avLst>
          </a:prstGeom>
          <a:solidFill>
            <a:srgbClr val="FFFFFF"/>
          </a:solidFill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5084B2-7967-4494-8627-8112AA863CA6}"/>
              </a:ext>
            </a:extLst>
          </p:cNvPr>
          <p:cNvSpPr>
            <a:spLocks noGrp="1"/>
          </p:cNvSpPr>
          <p:nvPr/>
        </p:nvSpPr>
        <p:spPr>
          <a:xfrm>
            <a:off x="3276600" y="6096000"/>
            <a:ext cx="1657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200" b="1">
                <a:solidFill>
                  <a:srgbClr val="6E6E73"/>
                </a:solidFill>
              </a:defRPr>
            </a:pPr>
            <a:r>
              <a:t>Tools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A19631-72F1-457D-B3B6-1FEDCD918255}"/>
              </a:ext>
            </a:extLst>
          </p:cNvPr>
          <p:cNvSpPr>
            <a:spLocks noGrp="1"/>
          </p:cNvSpPr>
          <p:nvPr/>
        </p:nvSpPr>
        <p:spPr>
          <a:xfrm>
            <a:off x="3276600" y="6324600"/>
            <a:ext cx="165735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FF9F0A"/>
                </a:solidFill>
              </a:defRPr>
            </a:pPr>
            <a:r>
              <a:t>evidence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1FD528F-6ADB-4539-81AB-60ACC1CDA2BA}"/>
              </a:ext>
            </a:extLst>
          </p:cNvPr>
          <p:cNvSpPr>
            <a:spLocks noGrp="1"/>
          </p:cNvSpPr>
          <p:nvPr/>
        </p:nvSpPr>
        <p:spPr>
          <a:xfrm>
            <a:off x="5257800" y="5939790"/>
            <a:ext cx="2038350" cy="876300"/>
          </a:xfrm>
          <a:prstGeom prst="roundRect">
            <a:avLst>
              <a:gd name="adj" fmla="val 19565"/>
            </a:avLst>
          </a:prstGeom>
          <a:solidFill>
            <a:srgbClr val="FFFFFF"/>
          </a:solidFill>
        </p:spPr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A257A-039C-4D26-81C6-A9D56FBDA482}"/>
              </a:ext>
            </a:extLst>
          </p:cNvPr>
          <p:cNvSpPr>
            <a:spLocks noGrp="1"/>
          </p:cNvSpPr>
          <p:nvPr/>
        </p:nvSpPr>
        <p:spPr>
          <a:xfrm>
            <a:off x="5448300" y="6096000"/>
            <a:ext cx="16573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200" b="1">
                <a:solidFill>
                  <a:srgbClr val="6E6E73"/>
                </a:solidFill>
              </a:defRPr>
            </a:pPr>
            <a:r>
              <a:t>Usage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A579AC-4900-40D0-A029-1ECC0A4FA607}"/>
              </a:ext>
            </a:extLst>
          </p:cNvPr>
          <p:cNvSpPr>
            <a:spLocks noGrp="1"/>
          </p:cNvSpPr>
          <p:nvPr/>
        </p:nvSpPr>
        <p:spPr>
          <a:xfrm>
            <a:off x="5448300" y="6324600"/>
            <a:ext cx="165735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025" b="1">
                <a:solidFill>
                  <a:srgbClr val="34C759"/>
                </a:solidFill>
              </a:defRPr>
            </a:pPr>
            <a:r>
              <a:t>koszt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610B7D-C4DD-4D6D-99B2-39000C2B3749}"/>
              </a:ext>
            </a:extLst>
          </p:cNvPr>
          <p:cNvSpPr>
            <a:spLocks noGrp="1"/>
          </p:cNvSpPr>
          <p:nvPr/>
        </p:nvSpPr>
        <p:spPr>
          <a:xfrm>
            <a:off x="914400" y="7086600"/>
            <a:ext cx="5581650" cy="571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875" b="1">
                <a:solidFill>
                  <a:srgbClr val="1D1D1F"/>
                </a:solidFill>
              </a:defRPr>
            </a:pPr>
            <a:r>
              <a:t>To jest user-facing feedback loop, nie ukryta telemetryka backendu.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4AD64ED-082E-4C85-8CA8-786AFA928B02}"/>
              </a:ext>
            </a:extLst>
          </p:cNvPr>
          <p:cNvSpPr>
            <a:spLocks noGrp="1"/>
          </p:cNvSpPr>
          <p:nvPr/>
        </p:nvSpPr>
        <p:spPr>
          <a:xfrm>
            <a:off x="8089773" y="2305050"/>
            <a:ext cx="9283827" cy="5676900"/>
          </a:xfrm>
          <a:prstGeom prst="roundRect">
            <a:avLst>
              <a:gd name="adj" fmla="val 3356"/>
            </a:avLst>
          </a:prstGeom>
          <a:solidFill>
            <a:srgbClr val="FFFFFF"/>
          </a:solidFill>
        </p:spPr>
        <p:txBody>
          <a:bodyPr/>
          <a:lstStyle/>
          <a:p>
            <a:endParaRPr lang="pl-PL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EFC7FE21-583B-41D8-8975-6CD77BDB5EDF}"/>
              </a:ext>
            </a:extLst>
          </p:cNvPr>
          <p:cNvSpPr>
            <a:spLocks noGrp="1"/>
          </p:cNvSpPr>
          <p:nvPr/>
        </p:nvSpPr>
        <p:spPr>
          <a:xfrm>
            <a:off x="8420100" y="2628900"/>
            <a:ext cx="95250" cy="4000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 lang="pl-PL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6835FCE-1095-433E-B05B-E8B3B532367C}"/>
              </a:ext>
            </a:extLst>
          </p:cNvPr>
          <p:cNvSpPr>
            <a:spLocks noGrp="1"/>
          </p:cNvSpPr>
          <p:nvPr/>
        </p:nvSpPr>
        <p:spPr>
          <a:xfrm>
            <a:off x="8724900" y="2609850"/>
            <a:ext cx="8305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t>Kontrakt pracy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E80F49-D6CF-4A8F-B68C-6FAF40A5D1D4}"/>
              </a:ext>
            </a:extLst>
          </p:cNvPr>
          <p:cNvSpPr>
            <a:spLocks noGrp="1"/>
          </p:cNvSpPr>
          <p:nvPr/>
        </p:nvSpPr>
        <p:spPr>
          <a:xfrm>
            <a:off x="8724900" y="297180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model, reasoning effort, preparedPrompt i skille jako opis oczekiwanego wyniku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23BF555-5FC3-4367-A6DB-C4CE2A5EC5FC}"/>
              </a:ext>
            </a:extLst>
          </p:cNvPr>
          <p:cNvSpPr>
            <a:spLocks noGrp="1"/>
          </p:cNvSpPr>
          <p:nvPr/>
        </p:nvSpPr>
        <p:spPr>
          <a:xfrm>
            <a:off x="8439150" y="3352800"/>
            <a:ext cx="85915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7F6FCB9-A0FF-40EB-8B68-EB995EE3EB9C}"/>
              </a:ext>
            </a:extLst>
          </p:cNvPr>
          <p:cNvSpPr>
            <a:spLocks noGrp="1"/>
          </p:cNvSpPr>
          <p:nvPr/>
        </p:nvSpPr>
        <p:spPr>
          <a:xfrm>
            <a:off x="8420100" y="3505200"/>
            <a:ext cx="95250" cy="40005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 lang="pl-P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555479-39FC-4783-8051-4847443178B2}"/>
              </a:ext>
            </a:extLst>
          </p:cNvPr>
          <p:cNvSpPr>
            <a:spLocks noGrp="1"/>
          </p:cNvSpPr>
          <p:nvPr/>
        </p:nvSpPr>
        <p:spPr>
          <a:xfrm>
            <a:off x="8724900" y="3505200"/>
            <a:ext cx="8305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t>Przebieg pipeline'u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9A9350-344D-4371-8C7A-D1C48ADD9398}"/>
              </a:ext>
            </a:extLst>
          </p:cNvPr>
          <p:cNvSpPr>
            <a:spLocks noGrp="1"/>
          </p:cNvSpPr>
          <p:nvPr/>
        </p:nvSpPr>
        <p:spPr>
          <a:xfrm>
            <a:off x="8724900" y="38671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kroki deterministyczne, statusy, item count oraz evidence czytane i publikowane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544737-493F-44B4-B045-6A42FA537D6E}"/>
              </a:ext>
            </a:extLst>
          </p:cNvPr>
          <p:cNvSpPr>
            <a:spLocks noGrp="1"/>
          </p:cNvSpPr>
          <p:nvPr/>
        </p:nvSpPr>
        <p:spPr>
          <a:xfrm>
            <a:off x="8439150" y="4238625"/>
            <a:ext cx="85915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0E38458-5847-4506-9BC1-76762473E05C}"/>
              </a:ext>
            </a:extLst>
          </p:cNvPr>
          <p:cNvSpPr>
            <a:spLocks noGrp="1"/>
          </p:cNvSpPr>
          <p:nvPr/>
        </p:nvSpPr>
        <p:spPr>
          <a:xfrm>
            <a:off x="8420100" y="4381500"/>
            <a:ext cx="95250" cy="400050"/>
          </a:xfrm>
          <a:prstGeom prst="roundRect">
            <a:avLst>
              <a:gd name="adj" fmla="val 50000"/>
            </a:avLst>
          </a:prstGeom>
          <a:solidFill>
            <a:srgbClr val="AF52DE"/>
          </a:solidFill>
        </p:spPr>
        <p:txBody>
          <a:bodyPr/>
          <a:lstStyle/>
          <a:p>
            <a:endParaRPr lang="pl-PL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DF724A-475F-41DE-8244-8AD5D328A9D0}"/>
              </a:ext>
            </a:extLst>
          </p:cNvPr>
          <p:cNvSpPr>
            <a:spLocks noGrp="1"/>
          </p:cNvSpPr>
          <p:nvPr/>
        </p:nvSpPr>
        <p:spPr>
          <a:xfrm>
            <a:off x="8724900" y="4400550"/>
            <a:ext cx="8305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t>Tok działania Copilota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EC06DF-A2B1-4CBC-A51C-ADD9C87DF026}"/>
              </a:ext>
            </a:extLst>
          </p:cNvPr>
          <p:cNvSpPr>
            <a:spLocks noGrp="1"/>
          </p:cNvSpPr>
          <p:nvPr/>
        </p:nvSpPr>
        <p:spPr>
          <a:xfrm>
            <a:off x="8724900" y="476250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widok AI / Tools / Runtime / Usage: wiadomości, requesty tooli, statusy i payload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76AB5A-EC13-475D-B6F4-FDED65CD12B8}"/>
              </a:ext>
            </a:extLst>
          </p:cNvPr>
          <p:cNvSpPr>
            <a:spLocks noGrp="1"/>
          </p:cNvSpPr>
          <p:nvPr/>
        </p:nvSpPr>
        <p:spPr>
          <a:xfrm>
            <a:off x="8439150" y="5133975"/>
            <a:ext cx="85915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31775E3-C904-4F68-A215-C5D7566DE31C}"/>
              </a:ext>
            </a:extLst>
          </p:cNvPr>
          <p:cNvSpPr>
            <a:spLocks noGrp="1"/>
          </p:cNvSpPr>
          <p:nvPr/>
        </p:nvSpPr>
        <p:spPr>
          <a:xfrm>
            <a:off x="8420100" y="5295900"/>
            <a:ext cx="95250" cy="400050"/>
          </a:xfrm>
          <a:prstGeom prst="roundRect">
            <a:avLst>
              <a:gd name="adj" fmla="val 50000"/>
            </a:avLst>
          </a:prstGeom>
          <a:solidFill>
            <a:srgbClr val="FF9F0A"/>
          </a:solidFill>
        </p:spPr>
        <p:txBody>
          <a:bodyPr/>
          <a:lstStyle/>
          <a:p>
            <a:endParaRPr lang="pl-P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FB681C-EDC3-400C-8BC8-2EFDB6433EAC}"/>
              </a:ext>
            </a:extLst>
          </p:cNvPr>
          <p:cNvSpPr>
            <a:spLocks noGrp="1"/>
          </p:cNvSpPr>
          <p:nvPr/>
        </p:nvSpPr>
        <p:spPr>
          <a:xfrm>
            <a:off x="8724900" y="5276850"/>
            <a:ext cx="8305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t>Tool evidence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567FA0B-9EC6-4D86-99DD-0BCEC804CAEC}"/>
              </a:ext>
            </a:extLst>
          </p:cNvPr>
          <p:cNvSpPr>
            <a:spLocks noGrp="1"/>
          </p:cNvSpPr>
          <p:nvPr/>
        </p:nvSpPr>
        <p:spPr>
          <a:xfrm>
            <a:off x="8724900" y="565785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wyniki narzędzi z GitLaba, DB i operational contextu powiązane z toolCallId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7A58A2D-8B7C-4116-88F8-2FD9E63C4E17}"/>
              </a:ext>
            </a:extLst>
          </p:cNvPr>
          <p:cNvSpPr>
            <a:spLocks noGrp="1"/>
          </p:cNvSpPr>
          <p:nvPr/>
        </p:nvSpPr>
        <p:spPr>
          <a:xfrm>
            <a:off x="8439150" y="6019800"/>
            <a:ext cx="85915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6F40AFE-24A8-4E93-8BF4-CDA888B4CC26}"/>
              </a:ext>
            </a:extLst>
          </p:cNvPr>
          <p:cNvSpPr>
            <a:spLocks noGrp="1"/>
          </p:cNvSpPr>
          <p:nvPr/>
        </p:nvSpPr>
        <p:spPr>
          <a:xfrm>
            <a:off x="8420100" y="6172200"/>
            <a:ext cx="95250" cy="4000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 lang="pl-P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FF5357-61FD-48E4-9030-B07B63EEDC7C}"/>
              </a:ext>
            </a:extLst>
          </p:cNvPr>
          <p:cNvSpPr>
            <a:spLocks noGrp="1"/>
          </p:cNvSpPr>
          <p:nvPr/>
        </p:nvSpPr>
        <p:spPr>
          <a:xfrm>
            <a:off x="8724900" y="6172200"/>
            <a:ext cx="8305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t>Koszt i pojemność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093975-1BDA-4CE5-B722-D32C42FF3825}"/>
              </a:ext>
            </a:extLst>
          </p:cNvPr>
          <p:cNvSpPr>
            <a:spLocks noGrp="1"/>
          </p:cNvSpPr>
          <p:nvPr/>
        </p:nvSpPr>
        <p:spPr>
          <a:xfrm>
            <a:off x="8724900" y="655320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tokens, cache, context, API calls, duration oraz estymacja credits / dollars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6AFFCA-29B7-4508-9BF9-258C432D4DD6}"/>
              </a:ext>
            </a:extLst>
          </p:cNvPr>
          <p:cNvSpPr>
            <a:spLocks noGrp="1"/>
          </p:cNvSpPr>
          <p:nvPr/>
        </p:nvSpPr>
        <p:spPr>
          <a:xfrm>
            <a:off x="8439150" y="6915150"/>
            <a:ext cx="85915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7B64104-1699-486C-AD9E-162BFAD212A3}"/>
              </a:ext>
            </a:extLst>
          </p:cNvPr>
          <p:cNvSpPr>
            <a:spLocks noGrp="1"/>
          </p:cNvSpPr>
          <p:nvPr/>
        </p:nvSpPr>
        <p:spPr>
          <a:xfrm>
            <a:off x="8420100" y="7086600"/>
            <a:ext cx="95250" cy="40005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 lang="pl-PL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E870881-A900-4C60-8FA6-268D0E47454A}"/>
              </a:ext>
            </a:extLst>
          </p:cNvPr>
          <p:cNvSpPr>
            <a:spLocks noGrp="1"/>
          </p:cNvSpPr>
          <p:nvPr/>
        </p:nvSpPr>
        <p:spPr>
          <a:xfrm>
            <a:off x="8724900" y="7067550"/>
            <a:ext cx="8305800" cy="3238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00" b="1">
                <a:solidFill>
                  <a:srgbClr val="1D1D1F"/>
                </a:solidFill>
              </a:defRPr>
            </a:pPr>
            <a:r>
              <a:t>Feedback jakości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5E18CE-C9FA-4868-8C04-29B8F7033F19}"/>
              </a:ext>
            </a:extLst>
          </p:cNvPr>
          <p:cNvSpPr>
            <a:spLocks noGrp="1"/>
          </p:cNvSpPr>
          <p:nvPr/>
        </p:nvSpPr>
        <p:spPr>
          <a:xfrm>
            <a:off x="8724900" y="7429500"/>
            <a:ext cx="83058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500" b="0">
                <a:solidFill>
                  <a:srgbClr val="6E6E73"/>
                </a:solidFill>
              </a:defRPr>
            </a:pPr>
            <a:r>
              <a:t>ocena użyteczności tooli, braków danych i sugestii usprawnień; także w follow-up chat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07BF2DD-79E0-49BC-B1E0-8B338F6FA52D}"/>
              </a:ext>
            </a:extLst>
          </p:cNvPr>
          <p:cNvSpPr>
            <a:spLocks noGrp="1"/>
          </p:cNvSpPr>
          <p:nvPr/>
        </p:nvSpPr>
        <p:spPr>
          <a:xfrm>
            <a:off x="16954500" y="942975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789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09E9588-3885-49B1-943F-EB5F450C7C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5F5F7"/>
          </a:solidFill>
        </p:spPr>
        <p:txBody>
          <a:bodyPr/>
          <a:lstStyle/>
          <a:p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FF1C5E-071B-41A8-BC71-EF15D5053ED4}"/>
              </a:ext>
            </a:extLst>
          </p:cNvPr>
          <p:cNvSpPr>
            <a:spLocks noGrp="1"/>
          </p:cNvSpPr>
          <p:nvPr/>
        </p:nvSpPr>
        <p:spPr>
          <a:xfrm>
            <a:off x="914400" y="6667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1350" b="1">
                <a:solidFill>
                  <a:srgbClr val="6E6E73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464011-0C4E-43CA-BA7A-1ABC4DEF6C07}"/>
              </a:ext>
            </a:extLst>
          </p:cNvPr>
          <p:cNvSpPr>
            <a:spLocks noGrp="1"/>
          </p:cNvSpPr>
          <p:nvPr/>
        </p:nvSpPr>
        <p:spPr>
          <a:xfrm>
            <a:off x="2952750" y="762000"/>
            <a:ext cx="11715750" cy="9525"/>
          </a:xfrm>
          <a:prstGeom prst="rect">
            <a:avLst/>
          </a:prstGeom>
          <a:solidFill>
            <a:srgbClr val="D2D2D7"/>
          </a:solidFill>
          <a:ln w="0">
            <a:solidFill>
              <a:srgbClr val="D2D2D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310EB6-5041-40BA-A962-A7191096FF58}"/>
              </a:ext>
            </a:extLst>
          </p:cNvPr>
          <p:cNvSpPr>
            <a:spLocks noGrp="1"/>
          </p:cNvSpPr>
          <p:nvPr/>
        </p:nvSpPr>
        <p:spPr>
          <a:xfrm>
            <a:off x="14897100" y="666750"/>
            <a:ext cx="24765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t>TAKEAWAY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C30D35-14CD-4E2F-80B8-F77F794267E5}"/>
              </a:ext>
            </a:extLst>
          </p:cNvPr>
          <p:cNvSpPr>
            <a:spLocks noGrp="1"/>
          </p:cNvSpPr>
          <p:nvPr/>
        </p:nvSpPr>
        <p:spPr>
          <a:xfrm>
            <a:off x="1007364" y="2879490"/>
            <a:ext cx="6953250" cy="5071251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5250" b="1">
                <a:solidFill>
                  <a:srgbClr val="1D1D1F"/>
                </a:solidFill>
              </a:defRPr>
            </a:pPr>
            <a:r>
              <a:rPr dirty="0"/>
              <a:t>Nie </a:t>
            </a:r>
            <a:r>
              <a:rPr dirty="0" err="1"/>
              <a:t>zaczynaj</a:t>
            </a:r>
            <a:r>
              <a:rPr dirty="0"/>
              <a:t> od </a:t>
            </a:r>
            <a:r>
              <a:rPr dirty="0" err="1"/>
              <a:t>lepszego</a:t>
            </a:r>
            <a:r>
              <a:rPr dirty="0"/>
              <a:t> </a:t>
            </a:r>
            <a:r>
              <a:rPr dirty="0" err="1"/>
              <a:t>modelu</a:t>
            </a:r>
            <a:r>
              <a:rPr lang="pl-PL" dirty="0"/>
              <a:t>, </a:t>
            </a:r>
            <a:r>
              <a:rPr lang="pl-PL" dirty="0" err="1"/>
              <a:t>markdownu</a:t>
            </a:r>
            <a:r>
              <a:rPr lang="pl-PL" dirty="0"/>
              <a:t>, </a:t>
            </a:r>
            <a:r>
              <a:rPr lang="pl-PL" dirty="0" err="1"/>
              <a:t>tooli</a:t>
            </a:r>
            <a:endParaRPr lang="pl-PL" dirty="0"/>
          </a:p>
          <a:p>
            <a:pPr>
              <a:defRPr sz="5250" b="1">
                <a:solidFill>
                  <a:srgbClr val="1D1D1F"/>
                </a:solidFill>
              </a:defRPr>
            </a:pPr>
            <a:r>
              <a:rPr lang="pl-PL" dirty="0" err="1">
                <a:solidFill>
                  <a:srgbClr val="FF0000"/>
                </a:solidFill>
              </a:rPr>
              <a:t>Agentowość</a:t>
            </a:r>
            <a:r>
              <a:rPr lang="pl-PL" dirty="0">
                <a:solidFill>
                  <a:srgbClr val="FF0000"/>
                </a:solidFill>
              </a:rPr>
              <a:t> to automatyzacja twoich kompetencji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925D6A-FFC3-46B8-91B3-7F6B9409EFEC}"/>
              </a:ext>
            </a:extLst>
          </p:cNvPr>
          <p:cNvSpPr>
            <a:spLocks noGrp="1"/>
          </p:cNvSpPr>
          <p:nvPr/>
        </p:nvSpPr>
        <p:spPr>
          <a:xfrm>
            <a:off x="914400" y="6477000"/>
            <a:ext cx="6953250" cy="666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4350" b="1">
                <a:solidFill>
                  <a:srgbClr val="0071E3"/>
                </a:solidFill>
              </a:defRPr>
            </a:pPr>
            <a:endParaRPr dirty="0">
              <a:solidFill>
                <a:srgbClr val="FF0000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21D600E-7797-41BE-9152-A8C3BEECC95F}"/>
              </a:ext>
            </a:extLst>
          </p:cNvPr>
          <p:cNvSpPr>
            <a:spLocks noGrp="1"/>
          </p:cNvSpPr>
          <p:nvPr/>
        </p:nvSpPr>
        <p:spPr>
          <a:xfrm>
            <a:off x="9087547" y="3443287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30CFDD-0701-4F36-B765-5E776D3E2768}"/>
              </a:ext>
            </a:extLst>
          </p:cNvPr>
          <p:cNvSpPr>
            <a:spLocks noGrp="1"/>
          </p:cNvSpPr>
          <p:nvPr/>
        </p:nvSpPr>
        <p:spPr>
          <a:xfrm>
            <a:off x="9282619" y="3576637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3892A4-2941-4B97-BF8A-7DD3F27D3C74}"/>
              </a:ext>
            </a:extLst>
          </p:cNvPr>
          <p:cNvSpPr>
            <a:spLocks noGrp="1"/>
          </p:cNvSpPr>
          <p:nvPr/>
        </p:nvSpPr>
        <p:spPr>
          <a:xfrm>
            <a:off x="9777919" y="3443287"/>
            <a:ext cx="6953250" cy="628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75" b="1">
                <a:solidFill>
                  <a:srgbClr val="1D1D1F"/>
                </a:solidFill>
              </a:defRPr>
            </a:pPr>
            <a:r>
              <a:rPr sz="3000"/>
              <a:t>Zacznij od manualnej analizy.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83445D0-7A22-4134-9FB8-E5AB56DAC818}"/>
              </a:ext>
            </a:extLst>
          </p:cNvPr>
          <p:cNvSpPr>
            <a:spLocks noGrp="1"/>
          </p:cNvSpPr>
          <p:nvPr/>
        </p:nvSpPr>
        <p:spPr>
          <a:xfrm>
            <a:off x="9087547" y="4148137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C5CE91-6D94-4596-841C-868B281742A5}"/>
              </a:ext>
            </a:extLst>
          </p:cNvPr>
          <p:cNvSpPr>
            <a:spLocks noGrp="1"/>
          </p:cNvSpPr>
          <p:nvPr/>
        </p:nvSpPr>
        <p:spPr>
          <a:xfrm>
            <a:off x="9282619" y="4281487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56581F-4D23-409A-94FC-0F60C3B65948}"/>
              </a:ext>
            </a:extLst>
          </p:cNvPr>
          <p:cNvSpPr>
            <a:spLocks noGrp="1"/>
          </p:cNvSpPr>
          <p:nvPr/>
        </p:nvSpPr>
        <p:spPr>
          <a:xfrm>
            <a:off x="9777919" y="4148137"/>
            <a:ext cx="6953250" cy="628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75" b="1">
                <a:solidFill>
                  <a:srgbClr val="1D1D1F"/>
                </a:solidFill>
              </a:defRPr>
            </a:pPr>
            <a:r>
              <a:rPr sz="3000"/>
              <a:t>Nazwij wiedzę, której pipeline nie ma.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A263CAF-10D4-489B-8F17-14723D511A91}"/>
              </a:ext>
            </a:extLst>
          </p:cNvPr>
          <p:cNvSpPr>
            <a:spLocks noGrp="1"/>
          </p:cNvSpPr>
          <p:nvPr/>
        </p:nvSpPr>
        <p:spPr>
          <a:xfrm>
            <a:off x="9087547" y="4852987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A5F600-CDA8-4326-8E9B-44EA5DFA7CB4}"/>
              </a:ext>
            </a:extLst>
          </p:cNvPr>
          <p:cNvSpPr>
            <a:spLocks noGrp="1"/>
          </p:cNvSpPr>
          <p:nvPr/>
        </p:nvSpPr>
        <p:spPr>
          <a:xfrm>
            <a:off x="9282619" y="4986337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850745-DBE5-4008-AFDC-6166F379EF08}"/>
              </a:ext>
            </a:extLst>
          </p:cNvPr>
          <p:cNvSpPr>
            <a:spLocks noGrp="1"/>
          </p:cNvSpPr>
          <p:nvPr/>
        </p:nvSpPr>
        <p:spPr>
          <a:xfrm>
            <a:off x="9777919" y="4852987"/>
            <a:ext cx="6953250" cy="628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75" b="1">
                <a:solidFill>
                  <a:srgbClr val="1D1D1F"/>
                </a:solidFill>
              </a:defRPr>
            </a:pPr>
            <a:r>
              <a:rPr sz="3000"/>
              <a:t>Zbierz deterministyczne fakty przed AI.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04A7643-399A-4EF9-A32E-1D04255A8967}"/>
              </a:ext>
            </a:extLst>
          </p:cNvPr>
          <p:cNvSpPr>
            <a:spLocks noGrp="1"/>
          </p:cNvSpPr>
          <p:nvPr/>
        </p:nvSpPr>
        <p:spPr>
          <a:xfrm>
            <a:off x="9087547" y="5557837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8AB47D-D907-440F-BB38-2B9A1457CFDD}"/>
              </a:ext>
            </a:extLst>
          </p:cNvPr>
          <p:cNvSpPr>
            <a:spLocks noGrp="1"/>
          </p:cNvSpPr>
          <p:nvPr/>
        </p:nvSpPr>
        <p:spPr>
          <a:xfrm>
            <a:off x="9282619" y="5691187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68F21D-3E43-4F75-88CA-56DD71D12E63}"/>
              </a:ext>
            </a:extLst>
          </p:cNvPr>
          <p:cNvSpPr>
            <a:spLocks noGrp="1"/>
          </p:cNvSpPr>
          <p:nvPr/>
        </p:nvSpPr>
        <p:spPr>
          <a:xfrm>
            <a:off x="9777919" y="5557837"/>
            <a:ext cx="6953250" cy="628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75" b="1">
                <a:solidFill>
                  <a:srgbClr val="1D1D1F"/>
                </a:solidFill>
              </a:defRPr>
            </a:pPr>
            <a:r>
              <a:rPr sz="3000"/>
              <a:t>Rozbij diagnozę na mniejsze decyzje.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C95B4DE-2179-4AB8-9038-3C943AA745FD}"/>
              </a:ext>
            </a:extLst>
          </p:cNvPr>
          <p:cNvSpPr>
            <a:spLocks noGrp="1"/>
          </p:cNvSpPr>
          <p:nvPr/>
        </p:nvSpPr>
        <p:spPr>
          <a:xfrm>
            <a:off x="9087547" y="6262687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D1C502-C1D6-498B-8425-21064FA46E22}"/>
              </a:ext>
            </a:extLst>
          </p:cNvPr>
          <p:cNvSpPr>
            <a:spLocks noGrp="1"/>
          </p:cNvSpPr>
          <p:nvPr/>
        </p:nvSpPr>
        <p:spPr>
          <a:xfrm>
            <a:off x="9282619" y="6396037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5D42E4-F057-4549-BBBF-F2070C0B20E4}"/>
              </a:ext>
            </a:extLst>
          </p:cNvPr>
          <p:cNvSpPr>
            <a:spLocks noGrp="1"/>
          </p:cNvSpPr>
          <p:nvPr/>
        </p:nvSpPr>
        <p:spPr>
          <a:xfrm>
            <a:off x="9777919" y="6262687"/>
            <a:ext cx="6953250" cy="628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75" b="1">
                <a:solidFill>
                  <a:srgbClr val="1D1D1F"/>
                </a:solidFill>
              </a:defRPr>
            </a:pPr>
            <a:r>
              <a:rPr lang="pl-PL" sz="3000" dirty="0"/>
              <a:t>Zdefiniuj celowy </a:t>
            </a:r>
            <a:r>
              <a:rPr lang="pl-PL" sz="3000" dirty="0" err="1"/>
              <a:t>pipeline</a:t>
            </a:r>
            <a:r>
              <a:rPr lang="pl-PL" sz="3000" dirty="0"/>
              <a:t>.</a:t>
            </a:r>
            <a:endParaRPr sz="30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1A54BA8-0449-420E-878B-401FD783B9D4}"/>
              </a:ext>
            </a:extLst>
          </p:cNvPr>
          <p:cNvSpPr>
            <a:spLocks noGrp="1"/>
          </p:cNvSpPr>
          <p:nvPr/>
        </p:nvSpPr>
        <p:spPr>
          <a:xfrm>
            <a:off x="9087547" y="6967537"/>
            <a:ext cx="495300" cy="4953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32EA48-F16F-450A-B8CE-F6B1B2372EAD}"/>
              </a:ext>
            </a:extLst>
          </p:cNvPr>
          <p:cNvSpPr>
            <a:spLocks noGrp="1"/>
          </p:cNvSpPr>
          <p:nvPr/>
        </p:nvSpPr>
        <p:spPr>
          <a:xfrm>
            <a:off x="9282619" y="7100887"/>
            <a:ext cx="11430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buNone/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DB3F1EB-CB7B-4FE2-A8FD-9D5AA88FCCF2}"/>
              </a:ext>
            </a:extLst>
          </p:cNvPr>
          <p:cNvSpPr>
            <a:spLocks noGrp="1"/>
          </p:cNvSpPr>
          <p:nvPr/>
        </p:nvSpPr>
        <p:spPr>
          <a:xfrm>
            <a:off x="9777919" y="6967537"/>
            <a:ext cx="6953250" cy="628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buNone/>
              <a:defRPr sz="2175" b="1">
                <a:solidFill>
                  <a:srgbClr val="1D1D1F"/>
                </a:solidFill>
              </a:defRPr>
            </a:pPr>
            <a:r>
              <a:rPr lang="pl-PL" sz="3000" dirty="0"/>
              <a:t>Mierz</a:t>
            </a:r>
            <a:r>
              <a:rPr sz="3000" dirty="0"/>
              <a:t> </a:t>
            </a:r>
            <a:r>
              <a:rPr sz="3000" dirty="0" err="1"/>
              <a:t>koszt</a:t>
            </a:r>
            <a:r>
              <a:rPr sz="3000" dirty="0"/>
              <a:t>, </a:t>
            </a:r>
            <a:r>
              <a:rPr sz="3000" dirty="0" err="1"/>
              <a:t>ślady</a:t>
            </a:r>
            <a:r>
              <a:rPr sz="3000" dirty="0"/>
              <a:t> </a:t>
            </a:r>
            <a:r>
              <a:rPr sz="3000" dirty="0" err="1"/>
              <a:t>pracy</a:t>
            </a:r>
            <a:r>
              <a:rPr sz="3000" dirty="0"/>
              <a:t> </a:t>
            </a:r>
            <a:r>
              <a:rPr sz="3000" dirty="0" err="1"/>
              <a:t>i</a:t>
            </a:r>
            <a:r>
              <a:rPr sz="3000" dirty="0"/>
              <a:t> feedback.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4DAA0C-F6E0-45CC-AFE7-7163E539F0FD}"/>
              </a:ext>
            </a:extLst>
          </p:cNvPr>
          <p:cNvSpPr>
            <a:spLocks noGrp="1"/>
          </p:cNvSpPr>
          <p:nvPr/>
        </p:nvSpPr>
        <p:spPr>
          <a:xfrm>
            <a:off x="16954500" y="942975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buNone/>
              <a:defRPr sz="1350" b="1">
                <a:solidFill>
                  <a:srgbClr val="6E6E73"/>
                </a:solidFill>
              </a:defRPr>
            </a:pPr>
            <a:r>
              <a:rPr dirty="0"/>
              <a:t>1</a:t>
            </a:r>
            <a:r>
              <a:rPr lang="pl-PL" dirty="0"/>
              <a:t>2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4859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8A30F10-47BE-4924-AECB-93FDFB01D3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D1D1F"/>
          </a:solidFill>
        </p:spPr>
        <p:txBody>
          <a:bodyPr/>
          <a:lstStyle/>
          <a:p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DD52F1-72BB-4D42-AB80-806A2C4457F9}"/>
              </a:ext>
            </a:extLst>
          </p:cNvPr>
          <p:cNvSpPr>
            <a:spLocks noGrp="1"/>
          </p:cNvSpPr>
          <p:nvPr/>
        </p:nvSpPr>
        <p:spPr>
          <a:xfrm>
            <a:off x="914400" y="666750"/>
            <a:ext cx="1809750" cy="1905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1">
                <a:solidFill>
                  <a:srgbClr val="A1A1A6"/>
                </a:solidFill>
              </a:defRPr>
            </a:pPr>
            <a:r>
              <a:t>INCIDENT TRACKER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BED52-C7AA-438D-AFE7-37D53E499D2A}"/>
              </a:ext>
            </a:extLst>
          </p:cNvPr>
          <p:cNvSpPr>
            <a:spLocks noGrp="1"/>
          </p:cNvSpPr>
          <p:nvPr/>
        </p:nvSpPr>
        <p:spPr>
          <a:xfrm>
            <a:off x="2952750" y="762000"/>
            <a:ext cx="11144250" cy="9525"/>
          </a:xfrm>
          <a:prstGeom prst="rect">
            <a:avLst/>
          </a:prstGeom>
          <a:solidFill>
            <a:srgbClr val="424245"/>
          </a:solidFill>
          <a:ln w="0">
            <a:solidFill>
              <a:srgbClr val="424245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C30D8-47C3-4FF7-BA75-3723D418E49A}"/>
              </a:ext>
            </a:extLst>
          </p:cNvPr>
          <p:cNvSpPr>
            <a:spLocks noGrp="1"/>
          </p:cNvSpPr>
          <p:nvPr/>
        </p:nvSpPr>
        <p:spPr>
          <a:xfrm>
            <a:off x="14325600" y="666750"/>
            <a:ext cx="30480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A1A1A6"/>
                </a:solidFill>
              </a:defRPr>
            </a:pPr>
            <a:r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A4B7D4-556F-4DF6-A316-9552ED7DF538}"/>
              </a:ext>
            </a:extLst>
          </p:cNvPr>
          <p:cNvSpPr>
            <a:spLocks noGrp="1"/>
          </p:cNvSpPr>
          <p:nvPr/>
        </p:nvSpPr>
        <p:spPr>
          <a:xfrm>
            <a:off x="914400" y="1714500"/>
            <a:ext cx="6477000" cy="1524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4950" b="1">
                <a:solidFill>
                  <a:srgbClr val="F5F5F7"/>
                </a:solidFill>
              </a:defRPr>
            </a:pPr>
            <a:r>
              <a:t>Dołączając, nie zaczynasz od zera.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906E1D-6750-4553-9E31-65BEF50517E0}"/>
              </a:ext>
            </a:extLst>
          </p:cNvPr>
          <p:cNvSpPr>
            <a:spLocks noGrp="1"/>
          </p:cNvSpPr>
          <p:nvPr/>
        </p:nvSpPr>
        <p:spPr>
          <a:xfrm>
            <a:off x="914400" y="3467100"/>
            <a:ext cx="6477000" cy="7620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4950" b="1">
                <a:solidFill>
                  <a:srgbClr val="34C759"/>
                </a:solidFill>
              </a:defRPr>
            </a:pPr>
            <a:r>
              <a:rPr dirty="0" err="1"/>
              <a:t>Budujesz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platformie</a:t>
            </a:r>
            <a:r>
              <a:rPr dirty="0"/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F3F32-56F4-439E-8179-E3BF98EAC114}"/>
              </a:ext>
            </a:extLst>
          </p:cNvPr>
          <p:cNvSpPr>
            <a:spLocks noGrp="1"/>
          </p:cNvSpPr>
          <p:nvPr/>
        </p:nvSpPr>
        <p:spPr>
          <a:xfrm>
            <a:off x="914400" y="4476750"/>
            <a:ext cx="6667500" cy="10096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175" b="0">
                <a:solidFill>
                  <a:srgbClr val="A1A1A6"/>
                </a:solidFill>
              </a:defRPr>
            </a:pPr>
            <a:r>
              <a:rPr dirty="0"/>
              <a:t>Incident analysis jest </a:t>
            </a:r>
            <a:r>
              <a:rPr dirty="0" err="1"/>
              <a:t>pierwszym</a:t>
            </a:r>
            <a:r>
              <a:rPr dirty="0"/>
              <a:t> </a:t>
            </a:r>
            <a:r>
              <a:rPr dirty="0" err="1"/>
              <a:t>feature'em</a:t>
            </a:r>
            <a:r>
              <a:rPr dirty="0"/>
              <a:t>. </a:t>
            </a:r>
            <a:r>
              <a:rPr dirty="0" err="1"/>
              <a:t>Kolejne</a:t>
            </a:r>
            <a:r>
              <a:rPr dirty="0"/>
              <a:t> </a:t>
            </a:r>
            <a:r>
              <a:rPr dirty="0" err="1"/>
              <a:t>analizy</a:t>
            </a:r>
            <a:r>
              <a:rPr dirty="0"/>
              <a:t> </a:t>
            </a:r>
            <a:r>
              <a:rPr dirty="0" err="1"/>
              <a:t>mogą</a:t>
            </a:r>
            <a:r>
              <a:rPr dirty="0"/>
              <a:t> </a:t>
            </a:r>
            <a:r>
              <a:rPr dirty="0" err="1"/>
              <a:t>używać</a:t>
            </a:r>
            <a:r>
              <a:rPr dirty="0"/>
              <a:t> platformy, tools, </a:t>
            </a:r>
            <a:r>
              <a:rPr dirty="0" err="1"/>
              <a:t>integracji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operational context bez </a:t>
            </a:r>
            <a:r>
              <a:rPr dirty="0" err="1"/>
              <a:t>importowania</a:t>
            </a:r>
            <a:r>
              <a:rPr dirty="0"/>
              <a:t> incident flow.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3CCF07F-BD53-4339-8DEB-ED45517B8C02}"/>
              </a:ext>
            </a:extLst>
          </p:cNvPr>
          <p:cNvSpPr>
            <a:spLocks noGrp="1"/>
          </p:cNvSpPr>
          <p:nvPr/>
        </p:nvSpPr>
        <p:spPr>
          <a:xfrm>
            <a:off x="914400" y="60579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 lang="pl-P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E56E9-7DCF-4B66-A6A7-660E60F7D982}"/>
              </a:ext>
            </a:extLst>
          </p:cNvPr>
          <p:cNvSpPr>
            <a:spLocks noGrp="1"/>
          </p:cNvSpPr>
          <p:nvPr/>
        </p:nvSpPr>
        <p:spPr>
          <a:xfrm>
            <a:off x="1143000" y="6038850"/>
            <a:ext cx="6248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F5F5F7"/>
                </a:solidFill>
              </a:defRPr>
            </a:pPr>
            <a:r>
              <a:t>Nowy feature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627D4A-94EE-4E79-9CDB-86CD98D13081}"/>
              </a:ext>
            </a:extLst>
          </p:cNvPr>
          <p:cNvSpPr>
            <a:spLocks noGrp="1"/>
          </p:cNvSpPr>
          <p:nvPr/>
        </p:nvSpPr>
        <p:spPr>
          <a:xfrm>
            <a:off x="1143000" y="6343650"/>
            <a:ext cx="6248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własny prompt, skille, kontrakt wyniku i UI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4CC201-0E02-4258-915A-C4464FCEB144}"/>
              </a:ext>
            </a:extLst>
          </p:cNvPr>
          <p:cNvSpPr>
            <a:spLocks noGrp="1"/>
          </p:cNvSpPr>
          <p:nvPr/>
        </p:nvSpPr>
        <p:spPr>
          <a:xfrm>
            <a:off x="914400" y="67056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AF52DE"/>
          </a:solidFill>
        </p:spPr>
        <p:txBody>
          <a:bodyPr/>
          <a:lstStyle/>
          <a:p>
            <a:endParaRPr lang="pl-P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846D4A-09B5-4D3D-B13B-ABE827CD4578}"/>
              </a:ext>
            </a:extLst>
          </p:cNvPr>
          <p:cNvSpPr>
            <a:spLocks noGrp="1"/>
          </p:cNvSpPr>
          <p:nvPr/>
        </p:nvSpPr>
        <p:spPr>
          <a:xfrm>
            <a:off x="1143000" y="6705600"/>
            <a:ext cx="6248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F5F5F7"/>
                </a:solidFill>
              </a:defRPr>
            </a:pPr>
            <a:r>
              <a:t>Nowy tool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B91456E-3703-4D60-97CE-56097C94DB4C}"/>
              </a:ext>
            </a:extLst>
          </p:cNvPr>
          <p:cNvSpPr>
            <a:spLocks noGrp="1"/>
          </p:cNvSpPr>
          <p:nvPr/>
        </p:nvSpPr>
        <p:spPr>
          <a:xfrm>
            <a:off x="1143000" y="7029450"/>
            <a:ext cx="6248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neutralny wrapper nad adapterem, dostępny dla różnych agentów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F6C523-1FC8-4AFC-B18E-CCED99E80732}"/>
              </a:ext>
            </a:extLst>
          </p:cNvPr>
          <p:cNvSpPr>
            <a:spLocks noGrp="1"/>
          </p:cNvSpPr>
          <p:nvPr/>
        </p:nvSpPr>
        <p:spPr>
          <a:xfrm>
            <a:off x="914400" y="73914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FF9F0A"/>
          </a:solidFill>
        </p:spPr>
        <p:txBody>
          <a:bodyPr/>
          <a:lstStyle/>
          <a:p>
            <a:endParaRPr lang="pl-PL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2C0A70E-20DA-4E71-A5B4-2FEAF8B48262}"/>
              </a:ext>
            </a:extLst>
          </p:cNvPr>
          <p:cNvSpPr>
            <a:spLocks noGrp="1"/>
          </p:cNvSpPr>
          <p:nvPr/>
        </p:nvSpPr>
        <p:spPr>
          <a:xfrm>
            <a:off x="1143000" y="7372350"/>
            <a:ext cx="6248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F5F5F7"/>
                </a:solidFill>
              </a:defRPr>
            </a:pPr>
            <a:r>
              <a:t>Nowa integracja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A355B2-A66F-426A-8216-852D20F91C86}"/>
              </a:ext>
            </a:extLst>
          </p:cNvPr>
          <p:cNvSpPr>
            <a:spLocks noGrp="1"/>
          </p:cNvSpPr>
          <p:nvPr/>
        </p:nvSpPr>
        <p:spPr>
          <a:xfrm>
            <a:off x="1143000" y="7696200"/>
            <a:ext cx="6248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port, adapter i typowany kontrakt capability bez zależności od feature'u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5620EA6-45A9-47BE-B64E-68020CA65811}"/>
              </a:ext>
            </a:extLst>
          </p:cNvPr>
          <p:cNvSpPr>
            <a:spLocks noGrp="1"/>
          </p:cNvSpPr>
          <p:nvPr/>
        </p:nvSpPr>
        <p:spPr>
          <a:xfrm>
            <a:off x="914400" y="8039100"/>
            <a:ext cx="76200" cy="34290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 lang="pl-PL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C08A92-D55D-4854-AFF4-28C5D963EE98}"/>
              </a:ext>
            </a:extLst>
          </p:cNvPr>
          <p:cNvSpPr>
            <a:spLocks noGrp="1"/>
          </p:cNvSpPr>
          <p:nvPr/>
        </p:nvSpPr>
        <p:spPr>
          <a:xfrm>
            <a:off x="1143000" y="8058150"/>
            <a:ext cx="6248400" cy="2857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800" b="1">
                <a:solidFill>
                  <a:srgbClr val="F5F5F7"/>
                </a:solidFill>
              </a:defRPr>
            </a:pPr>
            <a:r>
              <a:t>Nowy read model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B516EA-F96E-41C1-A87A-52D68422ED97}"/>
              </a:ext>
            </a:extLst>
          </p:cNvPr>
          <p:cNvSpPr>
            <a:spLocks noGrp="1"/>
          </p:cNvSpPr>
          <p:nvPr/>
        </p:nvSpPr>
        <p:spPr>
          <a:xfrm>
            <a:off x="1143000" y="8362950"/>
            <a:ext cx="624840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kolejny sposób projekcji operational contextu dla LLM i FE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AD4F8E6-AD52-4983-9B91-370F6282767A}"/>
              </a:ext>
            </a:extLst>
          </p:cNvPr>
          <p:cNvSpPr>
            <a:spLocks noGrp="1"/>
          </p:cNvSpPr>
          <p:nvPr/>
        </p:nvSpPr>
        <p:spPr>
          <a:xfrm>
            <a:off x="8210550" y="2414587"/>
            <a:ext cx="95250" cy="552450"/>
          </a:xfrm>
          <a:prstGeom prst="roundRect">
            <a:avLst>
              <a:gd name="adj" fmla="val 50000"/>
            </a:avLst>
          </a:prstGeom>
          <a:solidFill>
            <a:srgbClr val="34C759"/>
          </a:solidFill>
        </p:spPr>
        <p:txBody>
          <a:bodyPr/>
          <a:lstStyle/>
          <a:p>
            <a:endParaRPr lang="pl-PL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E0035F-DFD3-4D5D-BD18-B6162F4D5B30}"/>
              </a:ext>
            </a:extLst>
          </p:cNvPr>
          <p:cNvSpPr>
            <a:spLocks noGrp="1"/>
          </p:cNvSpPr>
          <p:nvPr/>
        </p:nvSpPr>
        <p:spPr>
          <a:xfrm>
            <a:off x="8534400" y="2376487"/>
            <a:ext cx="33337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175" b="1">
                <a:solidFill>
                  <a:srgbClr val="F5F5F7"/>
                </a:solidFill>
              </a:defRPr>
            </a:pPr>
            <a:r>
              <a:t>features.*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394183-47DD-41B2-B3CF-6E70377AE58B}"/>
              </a:ext>
            </a:extLst>
          </p:cNvPr>
          <p:cNvSpPr>
            <a:spLocks noGrp="1"/>
          </p:cNvSpPr>
          <p:nvPr/>
        </p:nvSpPr>
        <p:spPr>
          <a:xfrm>
            <a:off x="8534400" y="2757487"/>
            <a:ext cx="3333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dedykowane analizy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BE298C-5A5E-47C6-96AD-CF042F39AF85}"/>
              </a:ext>
            </a:extLst>
          </p:cNvPr>
          <p:cNvSpPr>
            <a:spLocks noGrp="1"/>
          </p:cNvSpPr>
          <p:nvPr/>
        </p:nvSpPr>
        <p:spPr>
          <a:xfrm>
            <a:off x="12096750" y="2566987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500" b="1">
                <a:solidFill>
                  <a:srgbClr val="F5F5F7"/>
                </a:solidFill>
              </a:defRPr>
            </a:pPr>
            <a:r>
              <a:t>request · prompt · skille · policy · result · UI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30CEAC-630A-40AF-ABA0-70912EBA3E8B}"/>
              </a:ext>
            </a:extLst>
          </p:cNvPr>
          <p:cNvSpPr>
            <a:spLocks noGrp="1"/>
          </p:cNvSpPr>
          <p:nvPr/>
        </p:nvSpPr>
        <p:spPr>
          <a:xfrm>
            <a:off x="7962900" y="3290887"/>
            <a:ext cx="93154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36366"/>
                </a:solidFill>
              </a:defRPr>
            </a:pPr>
            <a:r>
              <a:t>↓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F44ECF7-4851-4F67-88B1-93F4EBBE507C}"/>
              </a:ext>
            </a:extLst>
          </p:cNvPr>
          <p:cNvSpPr>
            <a:spLocks noGrp="1"/>
          </p:cNvSpPr>
          <p:nvPr/>
        </p:nvSpPr>
        <p:spPr>
          <a:xfrm>
            <a:off x="8210550" y="3824287"/>
            <a:ext cx="95250" cy="552450"/>
          </a:xfrm>
          <a:prstGeom prst="roundRect">
            <a:avLst>
              <a:gd name="adj" fmla="val 50000"/>
            </a:avLst>
          </a:prstGeom>
          <a:solidFill>
            <a:srgbClr val="0071E3"/>
          </a:solidFill>
        </p:spPr>
        <p:txBody>
          <a:bodyPr/>
          <a:lstStyle/>
          <a:p>
            <a:endParaRPr lang="pl-PL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BD2E13-EB5E-45CB-AD7B-2C6FA6A50BF8}"/>
              </a:ext>
            </a:extLst>
          </p:cNvPr>
          <p:cNvSpPr>
            <a:spLocks noGrp="1"/>
          </p:cNvSpPr>
          <p:nvPr/>
        </p:nvSpPr>
        <p:spPr>
          <a:xfrm>
            <a:off x="8534400" y="3805237"/>
            <a:ext cx="33337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175" b="1">
                <a:solidFill>
                  <a:srgbClr val="F5F5F7"/>
                </a:solidFill>
              </a:defRPr>
            </a:pPr>
            <a:r>
              <a:t>aiplatform.copilot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273722-A70F-44CA-B64A-F7A7523F71AE}"/>
              </a:ext>
            </a:extLst>
          </p:cNvPr>
          <p:cNvSpPr>
            <a:spLocks noGrp="1"/>
          </p:cNvSpPr>
          <p:nvPr/>
        </p:nvSpPr>
        <p:spPr>
          <a:xfrm>
            <a:off x="8534400" y="4186237"/>
            <a:ext cx="3333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runtime AI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593C8F-CA1A-4B44-A1D6-6CA81E5C1196}"/>
              </a:ext>
            </a:extLst>
          </p:cNvPr>
          <p:cNvSpPr>
            <a:spLocks noGrp="1"/>
          </p:cNvSpPr>
          <p:nvPr/>
        </p:nvSpPr>
        <p:spPr>
          <a:xfrm>
            <a:off x="12096750" y="3881437"/>
            <a:ext cx="49339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500" b="1">
                <a:solidFill>
                  <a:srgbClr val="F5F5F7"/>
                </a:solidFill>
              </a:defRPr>
            </a:pPr>
            <a:r>
              <a:t>sesja · allowlista tools · hidden context · usage · activity · budget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ABCF45-A8A3-4792-AFF0-24A1305713D8}"/>
              </a:ext>
            </a:extLst>
          </p:cNvPr>
          <p:cNvSpPr>
            <a:spLocks noGrp="1"/>
          </p:cNvSpPr>
          <p:nvPr/>
        </p:nvSpPr>
        <p:spPr>
          <a:xfrm>
            <a:off x="7962900" y="4719637"/>
            <a:ext cx="93154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36366"/>
                </a:solidFill>
              </a:defRPr>
            </a:pPr>
            <a:r>
              <a:t>↓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F34A674-EA1E-4578-966E-ECF35E920F4B}"/>
              </a:ext>
            </a:extLst>
          </p:cNvPr>
          <p:cNvSpPr>
            <a:spLocks noGrp="1"/>
          </p:cNvSpPr>
          <p:nvPr/>
        </p:nvSpPr>
        <p:spPr>
          <a:xfrm>
            <a:off x="8210550" y="5272087"/>
            <a:ext cx="95250" cy="552450"/>
          </a:xfrm>
          <a:prstGeom prst="roundRect">
            <a:avLst>
              <a:gd name="adj" fmla="val 50000"/>
            </a:avLst>
          </a:prstGeom>
          <a:solidFill>
            <a:srgbClr val="AF52DE"/>
          </a:solidFill>
        </p:spPr>
        <p:txBody>
          <a:bodyPr/>
          <a:lstStyle/>
          <a:p>
            <a:endParaRPr lang="pl-P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35663B6-04DB-4BFB-B878-C406870CBF86}"/>
              </a:ext>
            </a:extLst>
          </p:cNvPr>
          <p:cNvSpPr>
            <a:spLocks noGrp="1"/>
          </p:cNvSpPr>
          <p:nvPr/>
        </p:nvSpPr>
        <p:spPr>
          <a:xfrm>
            <a:off x="8534400" y="5233987"/>
            <a:ext cx="33337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175" b="1">
                <a:solidFill>
                  <a:srgbClr val="F5F5F7"/>
                </a:solidFill>
              </a:defRPr>
            </a:pPr>
            <a:r>
              <a:t>agenttools.*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44F9E6-CC26-466F-B590-F012913A6A33}"/>
              </a:ext>
            </a:extLst>
          </p:cNvPr>
          <p:cNvSpPr>
            <a:spLocks noGrp="1"/>
          </p:cNvSpPr>
          <p:nvPr/>
        </p:nvSpPr>
        <p:spPr>
          <a:xfrm>
            <a:off x="8534400" y="5614987"/>
            <a:ext cx="3333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neutralne capabilities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CAFE91B-E31D-4345-8FBD-74A611E5A953}"/>
              </a:ext>
            </a:extLst>
          </p:cNvPr>
          <p:cNvSpPr>
            <a:spLocks noGrp="1"/>
          </p:cNvSpPr>
          <p:nvPr/>
        </p:nvSpPr>
        <p:spPr>
          <a:xfrm>
            <a:off x="12096750" y="5424487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500" b="1">
                <a:solidFill>
                  <a:srgbClr val="F5F5F7"/>
                </a:solidFill>
              </a:defRPr>
            </a:pPr>
            <a:r>
              <a:t>opctx_* · gitlab_* · db_* · elastic_*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A75EA2-A93B-4CE2-9713-C481A137A998}"/>
              </a:ext>
            </a:extLst>
          </p:cNvPr>
          <p:cNvSpPr>
            <a:spLocks noGrp="1"/>
          </p:cNvSpPr>
          <p:nvPr/>
        </p:nvSpPr>
        <p:spPr>
          <a:xfrm>
            <a:off x="7962900" y="6148387"/>
            <a:ext cx="93154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36366"/>
                </a:solidFill>
              </a:defRPr>
            </a:pPr>
            <a:r>
              <a:t>↓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6EF98D6-085B-4CF3-B8D6-1EDE555EF425}"/>
              </a:ext>
            </a:extLst>
          </p:cNvPr>
          <p:cNvSpPr>
            <a:spLocks noGrp="1"/>
          </p:cNvSpPr>
          <p:nvPr/>
        </p:nvSpPr>
        <p:spPr>
          <a:xfrm>
            <a:off x="8210550" y="6681787"/>
            <a:ext cx="95250" cy="552450"/>
          </a:xfrm>
          <a:prstGeom prst="roundRect">
            <a:avLst>
              <a:gd name="adj" fmla="val 50000"/>
            </a:avLst>
          </a:prstGeom>
          <a:solidFill>
            <a:srgbClr val="FF9F0A"/>
          </a:solidFill>
        </p:spPr>
        <p:txBody>
          <a:bodyPr/>
          <a:lstStyle/>
          <a:p>
            <a:endParaRPr lang="pl-P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2A44E5-85E3-427D-9AF2-46E436F8F7F1}"/>
              </a:ext>
            </a:extLst>
          </p:cNvPr>
          <p:cNvSpPr>
            <a:spLocks noGrp="1"/>
          </p:cNvSpPr>
          <p:nvPr/>
        </p:nvSpPr>
        <p:spPr>
          <a:xfrm>
            <a:off x="8534400" y="6662737"/>
            <a:ext cx="33337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175" b="1">
                <a:solidFill>
                  <a:srgbClr val="F5F5F7"/>
                </a:solidFill>
              </a:defRPr>
            </a:pPr>
            <a:r>
              <a:t>integrations.*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00CDD16-E13D-4EB9-B774-4D0269817E4F}"/>
              </a:ext>
            </a:extLst>
          </p:cNvPr>
          <p:cNvSpPr>
            <a:spLocks noGrp="1"/>
          </p:cNvSpPr>
          <p:nvPr/>
        </p:nvSpPr>
        <p:spPr>
          <a:xfrm>
            <a:off x="8534400" y="7043737"/>
            <a:ext cx="3333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adaptery do systemów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FE44F20-31C5-43E0-9BED-93407FCAB484}"/>
              </a:ext>
            </a:extLst>
          </p:cNvPr>
          <p:cNvSpPr>
            <a:spLocks noGrp="1"/>
          </p:cNvSpPr>
          <p:nvPr/>
        </p:nvSpPr>
        <p:spPr>
          <a:xfrm>
            <a:off x="12096750" y="6738937"/>
            <a:ext cx="4933950" cy="4572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500" b="1">
                <a:solidFill>
                  <a:srgbClr val="F5F5F7"/>
                </a:solidFill>
              </a:defRPr>
            </a:pPr>
            <a:r>
              <a:t>Elasticsearch · Dynatrace · GitLab · Database · Operational Context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3300FBB-09F3-4DA0-BB0D-7E764B9B3832}"/>
              </a:ext>
            </a:extLst>
          </p:cNvPr>
          <p:cNvSpPr>
            <a:spLocks noGrp="1"/>
          </p:cNvSpPr>
          <p:nvPr/>
        </p:nvSpPr>
        <p:spPr>
          <a:xfrm>
            <a:off x="7962900" y="7577137"/>
            <a:ext cx="93154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ctr">
              <a:defRPr sz="1500" b="1">
                <a:solidFill>
                  <a:srgbClr val="636366"/>
                </a:solidFill>
              </a:defRPr>
            </a:pPr>
            <a:r>
              <a:t>↓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7786370-FB8C-4443-915C-18A4FB91C12F}"/>
              </a:ext>
            </a:extLst>
          </p:cNvPr>
          <p:cNvSpPr>
            <a:spLocks noGrp="1"/>
          </p:cNvSpPr>
          <p:nvPr/>
        </p:nvSpPr>
        <p:spPr>
          <a:xfrm>
            <a:off x="8210550" y="8129587"/>
            <a:ext cx="95250" cy="552450"/>
          </a:xfrm>
          <a:prstGeom prst="roundRect">
            <a:avLst>
              <a:gd name="adj" fmla="val 50000"/>
            </a:avLst>
          </a:prstGeom>
          <a:solidFill>
            <a:srgbClr val="FF0A0A"/>
          </a:solidFill>
        </p:spPr>
        <p:txBody>
          <a:bodyPr/>
          <a:lstStyle/>
          <a:p>
            <a:endParaRPr lang="pl-PL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49E33DD-532C-424D-97AF-E2D854BED07C}"/>
              </a:ext>
            </a:extLst>
          </p:cNvPr>
          <p:cNvSpPr>
            <a:spLocks noGrp="1"/>
          </p:cNvSpPr>
          <p:nvPr/>
        </p:nvSpPr>
        <p:spPr>
          <a:xfrm>
            <a:off x="8534400" y="8091487"/>
            <a:ext cx="3333750" cy="3429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2175" b="1">
                <a:solidFill>
                  <a:srgbClr val="F5F5F7"/>
                </a:solidFill>
              </a:defRPr>
            </a:pPr>
            <a:r>
              <a:t>shared + api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EBB985F-76C0-4D86-BE67-D1C164A80B3C}"/>
              </a:ext>
            </a:extLst>
          </p:cNvPr>
          <p:cNvSpPr>
            <a:spLocks noGrp="1"/>
          </p:cNvSpPr>
          <p:nvPr/>
        </p:nvSpPr>
        <p:spPr>
          <a:xfrm>
            <a:off x="8534400" y="8472487"/>
            <a:ext cx="3333750" cy="20955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350" b="0">
                <a:solidFill>
                  <a:srgbClr val="A1A1A6"/>
                </a:solidFill>
              </a:defRPr>
            </a:pPr>
            <a:r>
              <a:t>kontrakty i powierzchnie operatora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0E18CD8-78C0-4368-B8E4-8D37BB23462D}"/>
              </a:ext>
            </a:extLst>
          </p:cNvPr>
          <p:cNvSpPr>
            <a:spLocks noGrp="1"/>
          </p:cNvSpPr>
          <p:nvPr/>
        </p:nvSpPr>
        <p:spPr>
          <a:xfrm>
            <a:off x="12096750" y="8281987"/>
            <a:ext cx="4933950" cy="2286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500" b="1">
                <a:solidFill>
                  <a:srgbClr val="F5F5F7"/>
                </a:solidFill>
              </a:defRPr>
            </a:pPr>
            <a:r>
              <a:rPr dirty="0"/>
              <a:t>evidence · AI usage · activity trace · options · operator API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E725D51-9428-4029-A6F1-A022D3EDDE89}"/>
              </a:ext>
            </a:extLst>
          </p:cNvPr>
          <p:cNvSpPr>
            <a:spLocks noGrp="1"/>
          </p:cNvSpPr>
          <p:nvPr/>
        </p:nvSpPr>
        <p:spPr>
          <a:xfrm>
            <a:off x="8058150" y="8420100"/>
            <a:ext cx="7734300" cy="266700"/>
          </a:xfrm>
          <a:prstGeom prst="rect">
            <a:avLst/>
          </a:prstGeom>
        </p:spPr>
        <p:txBody>
          <a:bodyPr lIns="0" tIns="0" rIns="0" bIns="0"/>
          <a:lstStyle/>
          <a:p>
            <a:pPr algn="l">
              <a:defRPr sz="1725" b="1">
                <a:solidFill>
                  <a:srgbClr val="F5F5F7"/>
                </a:solidFill>
              </a:defRPr>
            </a:pPr>
            <a:endParaRPr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B4E8AFA-209D-4570-BF50-9E8F6F0077FD}"/>
              </a:ext>
            </a:extLst>
          </p:cNvPr>
          <p:cNvSpPr>
            <a:spLocks noGrp="1"/>
          </p:cNvSpPr>
          <p:nvPr/>
        </p:nvSpPr>
        <p:spPr>
          <a:xfrm>
            <a:off x="16954500" y="9429750"/>
            <a:ext cx="419100" cy="190500"/>
          </a:xfrm>
          <a:prstGeom prst="rect">
            <a:avLst/>
          </a:prstGeom>
        </p:spPr>
        <p:txBody>
          <a:bodyPr lIns="0" tIns="0" rIns="0" bIns="0"/>
          <a:lstStyle/>
          <a:p>
            <a:pPr algn="r">
              <a:defRPr sz="1350" b="1">
                <a:solidFill>
                  <a:srgbClr val="A1A1A6"/>
                </a:solidFill>
              </a:defRPr>
            </a:pPr>
            <a:r>
              <a:rPr dirty="0"/>
              <a:t>1</a:t>
            </a:r>
            <a:r>
              <a:rPr lang="pl-PL" dirty="0"/>
              <a:t>3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41047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1689</Words>
  <Application>Microsoft Office PowerPoint</Application>
  <DocSecurity>0</DocSecurity>
  <PresentationFormat>Custom</PresentationFormat>
  <Paragraphs>364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Mateusz Knieszner</cp:lastModifiedBy>
  <cp:revision>6</cp:revision>
  <dcterms:created xsi:type="dcterms:W3CDTF">2026-06-10T21:45:15Z</dcterms:created>
  <dcterms:modified xsi:type="dcterms:W3CDTF">2026-06-12T21:03:19Z</dcterms:modified>
</cp:coreProperties>
</file>